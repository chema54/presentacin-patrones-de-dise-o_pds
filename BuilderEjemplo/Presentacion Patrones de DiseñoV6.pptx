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7" r:id="rId3"/>
    <p:sldId id="306" r:id="rId4"/>
    <p:sldId id="261" r:id="rId5"/>
    <p:sldId id="258" r:id="rId6"/>
    <p:sldId id="259" r:id="rId7"/>
    <p:sldId id="263" r:id="rId8"/>
    <p:sldId id="264" r:id="rId9"/>
    <p:sldId id="266" r:id="rId10"/>
    <p:sldId id="265" r:id="rId11"/>
    <p:sldId id="267" r:id="rId12"/>
    <p:sldId id="305" r:id="rId13"/>
    <p:sldId id="274" r:id="rId14"/>
    <p:sldId id="268" r:id="rId15"/>
    <p:sldId id="275" r:id="rId16"/>
    <p:sldId id="308" r:id="rId17"/>
    <p:sldId id="292" r:id="rId18"/>
    <p:sldId id="294" r:id="rId19"/>
    <p:sldId id="296" r:id="rId20"/>
    <p:sldId id="297" r:id="rId21"/>
    <p:sldId id="298" r:id="rId22"/>
    <p:sldId id="309" r:id="rId23"/>
    <p:sldId id="276" r:id="rId24"/>
    <p:sldId id="307" r:id="rId25"/>
    <p:sldId id="277" r:id="rId26"/>
    <p:sldId id="278" r:id="rId27"/>
    <p:sldId id="279" r:id="rId28"/>
    <p:sldId id="280" r:id="rId29"/>
    <p:sldId id="281" r:id="rId30"/>
    <p:sldId id="282" r:id="rId31"/>
    <p:sldId id="283" r:id="rId32"/>
    <p:sldId id="284" r:id="rId33"/>
    <p:sldId id="289" r:id="rId34"/>
    <p:sldId id="285" r:id="rId35"/>
    <p:sldId id="286" r:id="rId36"/>
    <p:sldId id="287" r:id="rId37"/>
    <p:sldId id="300" r:id="rId38"/>
    <p:sldId id="301" r:id="rId39"/>
    <p:sldId id="302" r:id="rId40"/>
    <p:sldId id="303" r:id="rId41"/>
    <p:sldId id="304" r:id="rId42"/>
    <p:sldId id="288" r:id="rId43"/>
    <p:sldId id="262" r:id="rId44"/>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2687F1-7CA9-4AE6-86CD-13E704F1DDB5}" type="datetimeFigureOut">
              <a:rPr lang="es-MX" smtClean="0"/>
              <a:t>22/05/2026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AC1625-8FEE-40DD-A17B-D0A2EF376AC0}" type="slidenum">
              <a:rPr lang="es-MX" smtClean="0"/>
              <a:t>‹Nº›</a:t>
            </a:fld>
            <a:endParaRPr lang="es-MX"/>
          </a:p>
        </p:txBody>
      </p:sp>
    </p:spTree>
    <p:extLst>
      <p:ext uri="{BB962C8B-B14F-4D97-AF65-F5344CB8AC3E}">
        <p14:creationId xmlns:p14="http://schemas.microsoft.com/office/powerpoint/2010/main" val="2058557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noGroup"/>
        <p:cNvGrpSpPr/>
        <p:nvPr/>
      </p:nvGrpSpPr>
      <p:grpSpPr>
        <a:xfrm>
          <a:off x="0" y="0"/>
          <a:ext cx="0" cy="0"/>
          <a:chOff x="0" y="0"/>
          <a:chExt cx="0" cy="0"/>
        </a:xfrm>
      </p:grpSpPr>
      <p:sp>
        <p:nvSpPr>
          <p:cNvPr id="2" name="Slide Image Placeholder 1"/>
          <p:cNvSpPr txBox="1">
            <a:spLocks noGrp="1" noRot="1" noChangeAspect="1"/>
          </p:cNvSpPr>
          <p:nvPr>
            <p:ph type="sldImg" idx="4294967295"/>
          </p:nvPr>
        </p:nvSpPr>
        <p:spPr>
          <a:xfrm>
            <a:off x="-4763" y="0"/>
            <a:ext cx="22226" cy="12700"/>
          </a:xfrm>
          <a:prstGeom prst="rect">
            <a:avLst/>
          </a:prstGeom>
          <a:noFill/>
          <a:ln>
            <a:noFill/>
          </a:ln>
          <a:effectLst/>
        </p:spPr>
        <p:txBody>
          <a:bodyPr wrap="none" anchor="t">
            <a:spAutoFit/>
          </a:bodyPr>
          <a:lstStyle/>
          <a:p>
            <a:endParaRPr/>
          </a:p>
        </p:txBody>
      </p:sp>
      <p:sp>
        <p:nvSpPr>
          <p:cNvPr id="3" name="Notes Placeholder 2"/>
          <p:cNvSpPr txBox="1">
            <a:spLocks noGrp="1"/>
          </p:cNvSpPr>
          <p:nvPr>
            <p:ph type="body" idx="4294967295"/>
          </p:nvPr>
        </p:nvSpPr>
        <p:spPr>
          <a:xfrm>
            <a:off x="685756" y="4398922"/>
            <a:ext cx="5486054" cy="3599773"/>
          </a:xfrm>
          <a:prstGeom prst="rect">
            <a:avLst/>
          </a:prstGeom>
          <a:noFill/>
          <a:ln>
            <a:noFill/>
          </a:ln>
          <a:effectLst/>
        </p:spPr>
        <p:txBody>
          <a:bodyPr lIns="91440" tIns="45720" rIns="91440" bIns="45720" anchor="ctr"/>
          <a:lstStyle/>
          <a:p>
            <a:endParaRPr/>
          </a:p>
        </p:txBody>
      </p:sp>
      <p:sp>
        <p:nvSpPr>
          <p:cNvPr id="4" name="Slide Number Placeholder 3"/>
          <p:cNvSpPr txBox="1">
            <a:spLocks noGrp="1"/>
          </p:cNvSpPr>
          <p:nvPr>
            <p:ph type="sldNum" sz="quarter" idx="4294967295"/>
          </p:nvPr>
        </p:nvSpPr>
        <p:spPr>
          <a:xfrm>
            <a:off x="3884155" y="8686252"/>
            <a:ext cx="2971972" cy="458611"/>
          </a:xfrm>
          <a:prstGeom prst="rect">
            <a:avLst/>
          </a:prstGeom>
          <a:noFill/>
          <a:ln>
            <a:noFill/>
          </a:ln>
          <a:effectLst/>
        </p:spPr>
        <p:txBody>
          <a:bodyPr lIns="91440" tIns="45720" rIns="91440" bIns="45720" anchor="b"/>
          <a:lstStyle/>
          <a:p>
            <a:pPr algn="r"/>
            <a:fld id="{5CC2A059-B141-45A7-B910-B096D6D06820}" type="slidenum">
              <a:t>3</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noGroup"/>
        <p:cNvGrpSpPr/>
        <p:nvPr/>
      </p:nvGrpSpPr>
      <p:grpSpPr>
        <a:xfrm>
          <a:off x="0" y="0"/>
          <a:ext cx="0" cy="0"/>
          <a:chOff x="0" y="0"/>
          <a:chExt cx="0" cy="0"/>
        </a:xfrm>
      </p:grpSpPr>
      <p:sp>
        <p:nvSpPr>
          <p:cNvPr id="2" name="Slide Image Placeholder 1"/>
          <p:cNvSpPr txBox="1">
            <a:spLocks noGrp="1" noRot="1" noChangeAspect="1"/>
          </p:cNvSpPr>
          <p:nvPr>
            <p:ph type="sldImg" idx="4294967295"/>
          </p:nvPr>
        </p:nvSpPr>
        <p:spPr>
          <a:xfrm>
            <a:off x="-4763" y="0"/>
            <a:ext cx="22226" cy="12700"/>
          </a:xfrm>
          <a:prstGeom prst="rect">
            <a:avLst/>
          </a:prstGeom>
          <a:noFill/>
          <a:ln>
            <a:noFill/>
          </a:ln>
          <a:effectLst/>
        </p:spPr>
        <p:txBody>
          <a:bodyPr wrap="none" anchor="t">
            <a:spAutoFit/>
          </a:bodyPr>
          <a:lstStyle/>
          <a:p>
            <a:endParaRPr/>
          </a:p>
        </p:txBody>
      </p:sp>
      <p:sp>
        <p:nvSpPr>
          <p:cNvPr id="3" name="Notes Placeholder 2"/>
          <p:cNvSpPr txBox="1">
            <a:spLocks noGrp="1"/>
          </p:cNvSpPr>
          <p:nvPr>
            <p:ph type="body" idx="4294967295"/>
          </p:nvPr>
        </p:nvSpPr>
        <p:spPr>
          <a:xfrm>
            <a:off x="685756" y="4398922"/>
            <a:ext cx="5486054" cy="3599773"/>
          </a:xfrm>
          <a:prstGeom prst="rect">
            <a:avLst/>
          </a:prstGeom>
          <a:noFill/>
          <a:ln>
            <a:noFill/>
          </a:ln>
          <a:effectLst/>
        </p:spPr>
        <p:txBody>
          <a:bodyPr lIns="91440" tIns="45720" rIns="91440" bIns="45720" anchor="ctr"/>
          <a:lstStyle/>
          <a:p>
            <a:endParaRPr/>
          </a:p>
        </p:txBody>
      </p:sp>
      <p:sp>
        <p:nvSpPr>
          <p:cNvPr id="4" name="Slide Number Placeholder 3"/>
          <p:cNvSpPr txBox="1">
            <a:spLocks noGrp="1"/>
          </p:cNvSpPr>
          <p:nvPr>
            <p:ph type="sldNum" sz="quarter" idx="4294967295"/>
          </p:nvPr>
        </p:nvSpPr>
        <p:spPr>
          <a:xfrm>
            <a:off x="3884155" y="8686252"/>
            <a:ext cx="2971972" cy="458611"/>
          </a:xfrm>
          <a:prstGeom prst="rect">
            <a:avLst/>
          </a:prstGeom>
          <a:noFill/>
          <a:ln>
            <a:noFill/>
          </a:ln>
          <a:effectLst/>
        </p:spPr>
        <p:txBody>
          <a:bodyPr lIns="91440" tIns="45720" rIns="91440" bIns="45720" anchor="b"/>
          <a:lstStyle/>
          <a:p>
            <a:pPr algn="r"/>
            <a:fld id="{5CC2A059-B141-45A7-B910-B096D6D06820}" type="slidenum">
              <a:t>13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noGroup"/>
        <p:cNvGrpSpPr/>
        <p:nvPr/>
      </p:nvGrpSpPr>
      <p:grpSpPr>
        <a:xfrm>
          <a:off x="0" y="0"/>
          <a:ext cx="0" cy="0"/>
          <a:chOff x="0" y="0"/>
          <a:chExt cx="0" cy="0"/>
        </a:xfrm>
      </p:grpSpPr>
      <p:sp>
        <p:nvSpPr>
          <p:cNvPr id="2" name="Slide Image Placeholder 1"/>
          <p:cNvSpPr txBox="1">
            <a:spLocks noGrp="1" noRot="1" noChangeAspect="1"/>
          </p:cNvSpPr>
          <p:nvPr>
            <p:ph type="sldImg" idx="4294967295"/>
          </p:nvPr>
        </p:nvSpPr>
        <p:spPr>
          <a:xfrm>
            <a:off x="-4763" y="0"/>
            <a:ext cx="22226" cy="12700"/>
          </a:xfrm>
          <a:prstGeom prst="rect">
            <a:avLst/>
          </a:prstGeom>
          <a:noFill/>
          <a:ln>
            <a:noFill/>
          </a:ln>
          <a:effectLst/>
        </p:spPr>
        <p:txBody>
          <a:bodyPr wrap="none" anchor="t">
            <a:spAutoFit/>
          </a:bodyPr>
          <a:lstStyle/>
          <a:p>
            <a:endParaRPr/>
          </a:p>
        </p:txBody>
      </p:sp>
      <p:sp>
        <p:nvSpPr>
          <p:cNvPr id="3" name="Notes Placeholder 2"/>
          <p:cNvSpPr txBox="1">
            <a:spLocks noGrp="1"/>
          </p:cNvSpPr>
          <p:nvPr>
            <p:ph type="body" idx="4294967295"/>
          </p:nvPr>
        </p:nvSpPr>
        <p:spPr>
          <a:xfrm>
            <a:off x="685756" y="4398922"/>
            <a:ext cx="5486054" cy="3599773"/>
          </a:xfrm>
          <a:prstGeom prst="rect">
            <a:avLst/>
          </a:prstGeom>
          <a:noFill/>
          <a:ln>
            <a:noFill/>
          </a:ln>
          <a:effectLst/>
        </p:spPr>
        <p:txBody>
          <a:bodyPr lIns="91440" tIns="45720" rIns="91440" bIns="45720" anchor="ctr"/>
          <a:lstStyle/>
          <a:p>
            <a:endParaRPr/>
          </a:p>
        </p:txBody>
      </p:sp>
      <p:sp>
        <p:nvSpPr>
          <p:cNvPr id="4" name="Slide Number Placeholder 3"/>
          <p:cNvSpPr txBox="1">
            <a:spLocks noGrp="1"/>
          </p:cNvSpPr>
          <p:nvPr>
            <p:ph type="sldNum" sz="quarter" idx="4294967295"/>
          </p:nvPr>
        </p:nvSpPr>
        <p:spPr>
          <a:xfrm>
            <a:off x="3884155" y="8686252"/>
            <a:ext cx="2971972" cy="458611"/>
          </a:xfrm>
          <a:prstGeom prst="rect">
            <a:avLst/>
          </a:prstGeom>
          <a:noFill/>
          <a:ln>
            <a:noFill/>
          </a:ln>
          <a:effectLst/>
        </p:spPr>
        <p:txBody>
          <a:bodyPr lIns="91440" tIns="45720" rIns="91440" bIns="45720" anchor="b"/>
          <a:lstStyle/>
          <a:p>
            <a:pPr algn="r"/>
            <a:fld id="{5CC2A059-B141-45A7-B910-B096D6D06820}" type="slidenum">
              <a:t>24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noGroup">
          <a:extLst>
            <a:ext uri="{FF2B5EF4-FFF2-40B4-BE49-F238E27FC236}">
              <a16:creationId xmlns:a16="http://schemas.microsoft.com/office/drawing/2014/main" id="{018CA722-D04A-1795-3621-13374A205F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9FA5DF-D801-4DB0-FE40-5E2B29D3EB10}"/>
              </a:ext>
            </a:extLst>
          </p:cNvPr>
          <p:cNvSpPr txBox="1">
            <a:spLocks noGrp="1" noRot="1" noChangeAspect="1"/>
          </p:cNvSpPr>
          <p:nvPr>
            <p:ph type="sldImg" idx="4294967295"/>
          </p:nvPr>
        </p:nvSpPr>
        <p:spPr>
          <a:xfrm>
            <a:off x="-4763" y="0"/>
            <a:ext cx="22226" cy="12700"/>
          </a:xfrm>
          <a:prstGeom prst="rect">
            <a:avLst/>
          </a:prstGeom>
          <a:noFill/>
          <a:ln>
            <a:noFill/>
          </a:ln>
          <a:effectLst/>
        </p:spPr>
        <p:txBody>
          <a:bodyPr wrap="none" anchor="t">
            <a:spAutoFit/>
          </a:bodyPr>
          <a:lstStyle/>
          <a:p>
            <a:endParaRPr/>
          </a:p>
        </p:txBody>
      </p:sp>
      <p:sp>
        <p:nvSpPr>
          <p:cNvPr id="3" name="Notes Placeholder 2">
            <a:extLst>
              <a:ext uri="{FF2B5EF4-FFF2-40B4-BE49-F238E27FC236}">
                <a16:creationId xmlns:a16="http://schemas.microsoft.com/office/drawing/2014/main" id="{D2F2E218-EBA5-45F6-5DCB-499FED13D7A4}"/>
              </a:ext>
            </a:extLst>
          </p:cNvPr>
          <p:cNvSpPr txBox="1">
            <a:spLocks noGrp="1"/>
          </p:cNvSpPr>
          <p:nvPr>
            <p:ph type="body" idx="4294967295"/>
          </p:nvPr>
        </p:nvSpPr>
        <p:spPr>
          <a:xfrm>
            <a:off x="685756" y="4398922"/>
            <a:ext cx="5486054" cy="3599773"/>
          </a:xfrm>
          <a:prstGeom prst="rect">
            <a:avLst/>
          </a:prstGeom>
          <a:noFill/>
          <a:ln>
            <a:noFill/>
          </a:ln>
          <a:effectLst/>
        </p:spPr>
        <p:txBody>
          <a:bodyPr lIns="91440" tIns="45720" rIns="91440" bIns="45720" anchor="ctr"/>
          <a:lstStyle/>
          <a:p>
            <a:endParaRPr/>
          </a:p>
        </p:txBody>
      </p:sp>
      <p:sp>
        <p:nvSpPr>
          <p:cNvPr id="4" name="Slide Number Placeholder 3">
            <a:extLst>
              <a:ext uri="{FF2B5EF4-FFF2-40B4-BE49-F238E27FC236}">
                <a16:creationId xmlns:a16="http://schemas.microsoft.com/office/drawing/2014/main" id="{830E4121-C512-2309-1693-045EE47EB574}"/>
              </a:ext>
            </a:extLst>
          </p:cNvPr>
          <p:cNvSpPr txBox="1">
            <a:spLocks noGrp="1"/>
          </p:cNvSpPr>
          <p:nvPr>
            <p:ph type="sldNum" sz="quarter" idx="4294967295"/>
          </p:nvPr>
        </p:nvSpPr>
        <p:spPr>
          <a:xfrm>
            <a:off x="3884155" y="8686252"/>
            <a:ext cx="2971972" cy="458611"/>
          </a:xfrm>
          <a:prstGeom prst="rect">
            <a:avLst/>
          </a:prstGeom>
          <a:noFill/>
          <a:ln>
            <a:noFill/>
          </a:ln>
          <a:effectLst/>
        </p:spPr>
        <p:txBody>
          <a:bodyPr lIns="91440" tIns="45720" rIns="91440" bIns="45720" anchor="b"/>
          <a:lstStyle/>
          <a:p>
            <a:pPr algn="r"/>
            <a:fld id="{5CC2A059-B141-45A7-B910-B096D6D06820}" type="slidenum">
              <a:t>34</a:t>
            </a:fld>
            <a:endParaRPr/>
          </a:p>
        </p:txBody>
      </p:sp>
    </p:spTree>
    <p:extLst>
      <p:ext uri="{BB962C8B-B14F-4D97-AF65-F5344CB8AC3E}">
        <p14:creationId xmlns:p14="http://schemas.microsoft.com/office/powerpoint/2010/main" val="2961399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noGroup"/>
        <p:cNvGrpSpPr/>
        <p:nvPr/>
      </p:nvGrpSpPr>
      <p:grpSpPr>
        <a:xfrm>
          <a:off x="0" y="0"/>
          <a:ext cx="0" cy="0"/>
          <a:chOff x="0" y="0"/>
          <a:chExt cx="0" cy="0"/>
        </a:xfrm>
      </p:grpSpPr>
      <p:sp>
        <p:nvSpPr>
          <p:cNvPr id="2" name="Slide Image Placeholder 1"/>
          <p:cNvSpPr txBox="1">
            <a:spLocks noGrp="1" noRot="1" noChangeAspect="1"/>
          </p:cNvSpPr>
          <p:nvPr>
            <p:ph type="sldImg" idx="4294967295"/>
          </p:nvPr>
        </p:nvSpPr>
        <p:spPr>
          <a:xfrm>
            <a:off x="-4763" y="0"/>
            <a:ext cx="22226" cy="12700"/>
          </a:xfrm>
          <a:prstGeom prst="rect">
            <a:avLst/>
          </a:prstGeom>
          <a:noFill/>
          <a:ln>
            <a:noFill/>
          </a:ln>
          <a:effectLst/>
        </p:spPr>
        <p:txBody>
          <a:bodyPr wrap="none" anchor="t">
            <a:spAutoFit/>
          </a:bodyPr>
          <a:lstStyle/>
          <a:p>
            <a:endParaRPr/>
          </a:p>
        </p:txBody>
      </p:sp>
      <p:sp>
        <p:nvSpPr>
          <p:cNvPr id="3" name="Notes Placeholder 2"/>
          <p:cNvSpPr txBox="1">
            <a:spLocks noGrp="1"/>
          </p:cNvSpPr>
          <p:nvPr>
            <p:ph type="body" idx="4294967295"/>
          </p:nvPr>
        </p:nvSpPr>
        <p:spPr>
          <a:xfrm>
            <a:off x="0" y="0"/>
            <a:ext cx="12700" cy="12700"/>
          </a:xfrm>
          <a:prstGeom prst="rect">
            <a:avLst/>
          </a:prstGeom>
          <a:noFill/>
          <a:ln>
            <a:noFill/>
          </a:ln>
          <a:effectLst/>
        </p:spPr>
        <p:txBody>
          <a:bodyPr wrap="none" anchor="t">
            <a:spAutoFit/>
          </a:bodyPr>
          <a:lstStyle/>
          <a:p>
            <a:endParaRPr/>
          </a:p>
        </p:txBody>
      </p:sp>
      <p:sp>
        <p:nvSpPr>
          <p:cNvPr id="4" name="Slide Number Placeholder 3"/>
          <p:cNvSpPr txBox="1">
            <a:spLocks noGrp="1"/>
          </p:cNvSpPr>
          <p:nvPr>
            <p:ph type="sldNum" sz="quarter" idx="4294967295"/>
          </p:nvPr>
        </p:nvSpPr>
        <p:spPr>
          <a:xfrm>
            <a:off x="0" y="0"/>
            <a:ext cx="12700" cy="12700"/>
          </a:xfrm>
          <a:prstGeom prst="rect">
            <a:avLst/>
          </a:prstGeom>
          <a:noFill/>
          <a:ln>
            <a:noFill/>
          </a:ln>
          <a:effectLst/>
        </p:spPr>
        <p:txBody>
          <a:bodyPr wrap="none" anchor="t">
            <a:spAutoFit/>
          </a:bodyPr>
          <a:lstStyle/>
          <a:p>
            <a:fld id="{5CC2A059-B141-45A7-B910-B096D6D06820}" type="slidenum">
              <a:t>37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noGroup"/>
        <p:cNvGrpSpPr/>
        <p:nvPr/>
      </p:nvGrpSpPr>
      <p:grpSpPr>
        <a:xfrm>
          <a:off x="0" y="0"/>
          <a:ext cx="0" cy="0"/>
          <a:chOff x="0" y="0"/>
          <a:chExt cx="0" cy="0"/>
        </a:xfrm>
      </p:grpSpPr>
      <p:sp>
        <p:nvSpPr>
          <p:cNvPr id="2" name="Slide Image Placeholder 1"/>
          <p:cNvSpPr txBox="1">
            <a:spLocks noGrp="1" noRot="1" noChangeAspect="1"/>
          </p:cNvSpPr>
          <p:nvPr>
            <p:ph type="sldImg" idx="4294967295"/>
          </p:nvPr>
        </p:nvSpPr>
        <p:spPr>
          <a:xfrm>
            <a:off x="-4763" y="0"/>
            <a:ext cx="22226" cy="12700"/>
          </a:xfrm>
          <a:prstGeom prst="rect">
            <a:avLst/>
          </a:prstGeom>
          <a:noFill/>
          <a:ln>
            <a:noFill/>
          </a:ln>
          <a:effectLst/>
        </p:spPr>
        <p:txBody>
          <a:bodyPr wrap="none" anchor="t">
            <a:spAutoFit/>
          </a:bodyPr>
          <a:lstStyle/>
          <a:p>
            <a:endParaRPr/>
          </a:p>
        </p:txBody>
      </p:sp>
      <p:sp>
        <p:nvSpPr>
          <p:cNvPr id="3" name="Notes Placeholder 2"/>
          <p:cNvSpPr txBox="1">
            <a:spLocks noGrp="1"/>
          </p:cNvSpPr>
          <p:nvPr>
            <p:ph type="body" idx="4294967295"/>
          </p:nvPr>
        </p:nvSpPr>
        <p:spPr>
          <a:xfrm>
            <a:off x="685756" y="4398922"/>
            <a:ext cx="5486054" cy="3599773"/>
          </a:xfrm>
          <a:prstGeom prst="rect">
            <a:avLst/>
          </a:prstGeom>
          <a:noFill/>
          <a:ln>
            <a:noFill/>
          </a:ln>
          <a:effectLst/>
        </p:spPr>
        <p:txBody>
          <a:bodyPr lIns="91440" tIns="45720" rIns="91440" bIns="45720" anchor="ctr"/>
          <a:lstStyle/>
          <a:p>
            <a:endParaRPr/>
          </a:p>
        </p:txBody>
      </p:sp>
      <p:sp>
        <p:nvSpPr>
          <p:cNvPr id="4" name="Slide Number Placeholder 3"/>
          <p:cNvSpPr txBox="1">
            <a:spLocks noGrp="1"/>
          </p:cNvSpPr>
          <p:nvPr>
            <p:ph type="sldNum" sz="quarter" idx="4294967295"/>
          </p:nvPr>
        </p:nvSpPr>
        <p:spPr>
          <a:xfrm>
            <a:off x="3884155" y="8686252"/>
            <a:ext cx="2971972" cy="458611"/>
          </a:xfrm>
          <a:prstGeom prst="rect">
            <a:avLst/>
          </a:prstGeom>
          <a:noFill/>
          <a:ln>
            <a:noFill/>
          </a:ln>
          <a:effectLst/>
        </p:spPr>
        <p:txBody>
          <a:bodyPr lIns="91440" tIns="45720" rIns="91440" bIns="45720" anchor="b"/>
          <a:lstStyle/>
          <a:p>
            <a:pPr algn="r"/>
            <a:fld id="{5CC2A059-B141-45A7-B910-B096D6D06820}" type="slidenum">
              <a:t>38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noGroup"/>
        <p:cNvGrpSpPr/>
        <p:nvPr/>
      </p:nvGrpSpPr>
      <p:grpSpPr>
        <a:xfrm>
          <a:off x="0" y="0"/>
          <a:ext cx="0" cy="0"/>
          <a:chOff x="0" y="0"/>
          <a:chExt cx="0" cy="0"/>
        </a:xfrm>
      </p:grpSpPr>
      <p:sp>
        <p:nvSpPr>
          <p:cNvPr id="2" name="Slide Image Placeholder 1"/>
          <p:cNvSpPr txBox="1">
            <a:spLocks noGrp="1" noRot="1" noChangeAspect="1"/>
          </p:cNvSpPr>
          <p:nvPr>
            <p:ph type="sldImg" idx="4294967295"/>
          </p:nvPr>
        </p:nvSpPr>
        <p:spPr>
          <a:xfrm>
            <a:off x="-4763" y="0"/>
            <a:ext cx="22226" cy="12700"/>
          </a:xfrm>
          <a:prstGeom prst="rect">
            <a:avLst/>
          </a:prstGeom>
          <a:noFill/>
          <a:ln>
            <a:noFill/>
          </a:ln>
          <a:effectLst/>
        </p:spPr>
        <p:txBody>
          <a:bodyPr wrap="none" anchor="t">
            <a:spAutoFit/>
          </a:bodyPr>
          <a:lstStyle/>
          <a:p>
            <a:endParaRPr/>
          </a:p>
        </p:txBody>
      </p:sp>
      <p:sp>
        <p:nvSpPr>
          <p:cNvPr id="3" name="Notes Placeholder 2"/>
          <p:cNvSpPr txBox="1">
            <a:spLocks noGrp="1"/>
          </p:cNvSpPr>
          <p:nvPr>
            <p:ph type="body" idx="4294967295"/>
          </p:nvPr>
        </p:nvSpPr>
        <p:spPr>
          <a:xfrm>
            <a:off x="685756" y="4398922"/>
            <a:ext cx="5486054" cy="3599773"/>
          </a:xfrm>
          <a:prstGeom prst="rect">
            <a:avLst/>
          </a:prstGeom>
          <a:noFill/>
          <a:ln>
            <a:noFill/>
          </a:ln>
          <a:effectLst/>
        </p:spPr>
        <p:txBody>
          <a:bodyPr lIns="91440" tIns="45720" rIns="91440" bIns="45720" anchor="ctr"/>
          <a:lstStyle/>
          <a:p>
            <a:endParaRPr/>
          </a:p>
        </p:txBody>
      </p:sp>
      <p:sp>
        <p:nvSpPr>
          <p:cNvPr id="4" name="Slide Number Placeholder 3"/>
          <p:cNvSpPr txBox="1">
            <a:spLocks noGrp="1"/>
          </p:cNvSpPr>
          <p:nvPr>
            <p:ph type="sldNum" sz="quarter" idx="4294967295"/>
          </p:nvPr>
        </p:nvSpPr>
        <p:spPr>
          <a:xfrm>
            <a:off x="3884155" y="8686252"/>
            <a:ext cx="2971972" cy="458611"/>
          </a:xfrm>
          <a:prstGeom prst="rect">
            <a:avLst/>
          </a:prstGeom>
          <a:noFill/>
          <a:ln>
            <a:noFill/>
          </a:ln>
          <a:effectLst/>
        </p:spPr>
        <p:txBody>
          <a:bodyPr lIns="91440" tIns="45720" rIns="91440" bIns="45720" anchor="b"/>
          <a:lstStyle/>
          <a:p>
            <a:pPr algn="r"/>
            <a:fld id="{5CC2A059-B141-45A7-B910-B096D6D06820}" type="slidenum">
              <a:t>39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noGroup"/>
        <p:cNvGrpSpPr/>
        <p:nvPr/>
      </p:nvGrpSpPr>
      <p:grpSpPr>
        <a:xfrm>
          <a:off x="0" y="0"/>
          <a:ext cx="0" cy="0"/>
          <a:chOff x="0" y="0"/>
          <a:chExt cx="0" cy="0"/>
        </a:xfrm>
      </p:grpSpPr>
      <p:sp>
        <p:nvSpPr>
          <p:cNvPr id="2" name="Slide Image Placeholder 1"/>
          <p:cNvSpPr txBox="1">
            <a:spLocks noGrp="1" noRot="1" noChangeAspect="1"/>
          </p:cNvSpPr>
          <p:nvPr>
            <p:ph type="sldImg" idx="4294967295"/>
          </p:nvPr>
        </p:nvSpPr>
        <p:spPr>
          <a:xfrm>
            <a:off x="0" y="0"/>
            <a:ext cx="12700" cy="12700"/>
          </a:xfrm>
          <a:prstGeom prst="rect">
            <a:avLst/>
          </a:prstGeom>
          <a:noFill/>
          <a:ln>
            <a:noFill/>
          </a:ln>
          <a:effectLst/>
        </p:spPr>
        <p:txBody>
          <a:bodyPr wrap="none" anchor="t">
            <a:spAutoFit/>
          </a:bodyPr>
          <a:lstStyle/>
          <a:p>
            <a:endParaRPr/>
          </a:p>
        </p:txBody>
      </p:sp>
      <p:sp>
        <p:nvSpPr>
          <p:cNvPr id="3" name="Notes Placeholder 2"/>
          <p:cNvSpPr txBox="1">
            <a:spLocks noGrp="1"/>
          </p:cNvSpPr>
          <p:nvPr>
            <p:ph type="body" idx="4294967295"/>
          </p:nvPr>
        </p:nvSpPr>
        <p:spPr>
          <a:xfrm>
            <a:off x="0" y="0"/>
            <a:ext cx="12700" cy="12700"/>
          </a:xfrm>
          <a:prstGeom prst="rect">
            <a:avLst/>
          </a:prstGeom>
          <a:noFill/>
          <a:ln>
            <a:noFill/>
          </a:ln>
          <a:effectLst/>
        </p:spPr>
        <p:txBody>
          <a:bodyPr wrap="none" anchor="t">
            <a:spAutoFit/>
          </a:bodyPr>
          <a:lstStyle/>
          <a:p>
            <a:endParaRPr/>
          </a:p>
        </p:txBody>
      </p:sp>
      <p:sp>
        <p:nvSpPr>
          <p:cNvPr id="4" name="Slide Number Placeholder 3"/>
          <p:cNvSpPr txBox="1">
            <a:spLocks noGrp="1"/>
          </p:cNvSpPr>
          <p:nvPr>
            <p:ph type="sldNum" sz="quarter" idx="4294967295"/>
          </p:nvPr>
        </p:nvSpPr>
        <p:spPr>
          <a:xfrm>
            <a:off x="0" y="0"/>
            <a:ext cx="12700" cy="12700"/>
          </a:xfrm>
          <a:prstGeom prst="rect">
            <a:avLst/>
          </a:prstGeom>
          <a:noFill/>
          <a:ln>
            <a:noFill/>
          </a:ln>
          <a:effectLst/>
        </p:spPr>
        <p:txBody>
          <a:bodyPr wrap="none" anchor="t">
            <a:spAutoFit/>
          </a:bodyPr>
          <a:lstStyle/>
          <a:p>
            <a:fld id="{5CC2A059-B141-45A7-B910-B096D6D06820}" type="slidenum">
              <a:t>40</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noGroup"/>
        <p:cNvGrpSpPr/>
        <p:nvPr/>
      </p:nvGrpSpPr>
      <p:grpSpPr>
        <a:xfrm>
          <a:off x="0" y="0"/>
          <a:ext cx="0" cy="0"/>
          <a:chOff x="0" y="0"/>
          <a:chExt cx="0" cy="0"/>
        </a:xfrm>
      </p:grpSpPr>
      <p:sp>
        <p:nvSpPr>
          <p:cNvPr id="2" name="Slide Image Placeholder 1"/>
          <p:cNvSpPr txBox="1">
            <a:spLocks noGrp="1" noRot="1" noChangeAspect="1"/>
          </p:cNvSpPr>
          <p:nvPr>
            <p:ph type="sldImg" idx="4294967295"/>
          </p:nvPr>
        </p:nvSpPr>
        <p:spPr>
          <a:xfrm>
            <a:off x="-4763" y="0"/>
            <a:ext cx="22226" cy="12700"/>
          </a:xfrm>
          <a:prstGeom prst="rect">
            <a:avLst/>
          </a:prstGeom>
          <a:noFill/>
          <a:ln>
            <a:noFill/>
          </a:ln>
          <a:effectLst/>
        </p:spPr>
        <p:txBody>
          <a:bodyPr wrap="none" anchor="t">
            <a:spAutoFit/>
          </a:bodyPr>
          <a:lstStyle/>
          <a:p>
            <a:endParaRPr/>
          </a:p>
        </p:txBody>
      </p:sp>
      <p:sp>
        <p:nvSpPr>
          <p:cNvPr id="3" name="Notes Placeholder 2"/>
          <p:cNvSpPr txBox="1">
            <a:spLocks noGrp="1"/>
          </p:cNvSpPr>
          <p:nvPr>
            <p:ph type="body" idx="4294967295"/>
          </p:nvPr>
        </p:nvSpPr>
        <p:spPr>
          <a:xfrm>
            <a:off x="685756" y="4398922"/>
            <a:ext cx="5486054" cy="3599773"/>
          </a:xfrm>
          <a:prstGeom prst="rect">
            <a:avLst/>
          </a:prstGeom>
          <a:noFill/>
          <a:ln>
            <a:noFill/>
          </a:ln>
          <a:effectLst/>
        </p:spPr>
        <p:txBody>
          <a:bodyPr lIns="91440" tIns="45720" rIns="91440" bIns="45720" anchor="ctr"/>
          <a:lstStyle/>
          <a:p>
            <a:endParaRPr/>
          </a:p>
        </p:txBody>
      </p:sp>
      <p:sp>
        <p:nvSpPr>
          <p:cNvPr id="4" name="Slide Number Placeholder 3"/>
          <p:cNvSpPr txBox="1">
            <a:spLocks noGrp="1"/>
          </p:cNvSpPr>
          <p:nvPr>
            <p:ph type="sldNum" sz="quarter" idx="4294967295"/>
          </p:nvPr>
        </p:nvSpPr>
        <p:spPr>
          <a:xfrm>
            <a:off x="3884155" y="8686252"/>
            <a:ext cx="2971972" cy="458611"/>
          </a:xfrm>
          <a:prstGeom prst="rect">
            <a:avLst/>
          </a:prstGeom>
          <a:noFill/>
          <a:ln>
            <a:noFill/>
          </a:ln>
          <a:effectLst/>
        </p:spPr>
        <p:txBody>
          <a:bodyPr lIns="91440" tIns="45720" rIns="91440" bIns="45720" anchor="b"/>
          <a:lstStyle/>
          <a:p>
            <a:pPr algn="r"/>
            <a:fld id="{5CC2A059-B141-45A7-B910-B096D6D06820}" type="slidenum">
              <a:t>41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F62B49-DC28-DFFA-5B27-323242548422}"/>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39BFB7A7-F3C4-12E6-7D97-99DE182E24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BF88D4D9-96E8-AFC2-8D45-B54F64738E3F}"/>
              </a:ext>
            </a:extLst>
          </p:cNvPr>
          <p:cNvSpPr>
            <a:spLocks noGrp="1"/>
          </p:cNvSpPr>
          <p:nvPr>
            <p:ph type="dt" sz="half" idx="10"/>
          </p:nvPr>
        </p:nvSpPr>
        <p:spPr/>
        <p:txBody>
          <a:bodyPr/>
          <a:lstStyle/>
          <a:p>
            <a:fld id="{039DD168-60A3-4B42-89DF-5D0D4EC10828}" type="datetimeFigureOut">
              <a:rPr lang="es-MX" smtClean="0"/>
              <a:t>22/05/2026</a:t>
            </a:fld>
            <a:endParaRPr lang="es-MX"/>
          </a:p>
        </p:txBody>
      </p:sp>
      <p:sp>
        <p:nvSpPr>
          <p:cNvPr id="5" name="Marcador de pie de página 4">
            <a:extLst>
              <a:ext uri="{FF2B5EF4-FFF2-40B4-BE49-F238E27FC236}">
                <a16:creationId xmlns:a16="http://schemas.microsoft.com/office/drawing/2014/main" id="{26BA5EBD-BAB1-DE61-6AE5-8539E29C155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C733E34-05BE-1D85-2288-E5220DED2518}"/>
              </a:ext>
            </a:extLst>
          </p:cNvPr>
          <p:cNvSpPr>
            <a:spLocks noGrp="1"/>
          </p:cNvSpPr>
          <p:nvPr>
            <p:ph type="sldNum" sz="quarter" idx="12"/>
          </p:nvPr>
        </p:nvSpPr>
        <p:spPr/>
        <p:txBody>
          <a:bodyPr/>
          <a:lstStyle/>
          <a:p>
            <a:fld id="{B142A301-DFE9-4574-9DA3-DBBF505A15FC}" type="slidenum">
              <a:rPr lang="es-MX" smtClean="0"/>
              <a:t>‹Nº›</a:t>
            </a:fld>
            <a:endParaRPr lang="es-MX"/>
          </a:p>
        </p:txBody>
      </p:sp>
    </p:spTree>
    <p:extLst>
      <p:ext uri="{BB962C8B-B14F-4D97-AF65-F5344CB8AC3E}">
        <p14:creationId xmlns:p14="http://schemas.microsoft.com/office/powerpoint/2010/main" val="4189520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A0A239-3657-E7F6-CE40-28FCB6CB3496}"/>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CF4413A4-B5FB-6E6B-19A4-264F7F3E1A16}"/>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61F07D72-ADC0-7DF3-2276-C48823119140}"/>
              </a:ext>
            </a:extLst>
          </p:cNvPr>
          <p:cNvSpPr>
            <a:spLocks noGrp="1"/>
          </p:cNvSpPr>
          <p:nvPr>
            <p:ph type="dt" sz="half" idx="10"/>
          </p:nvPr>
        </p:nvSpPr>
        <p:spPr/>
        <p:txBody>
          <a:bodyPr/>
          <a:lstStyle/>
          <a:p>
            <a:fld id="{039DD168-60A3-4B42-89DF-5D0D4EC10828}" type="datetimeFigureOut">
              <a:rPr lang="es-MX" smtClean="0"/>
              <a:t>22/05/2026</a:t>
            </a:fld>
            <a:endParaRPr lang="es-MX"/>
          </a:p>
        </p:txBody>
      </p:sp>
      <p:sp>
        <p:nvSpPr>
          <p:cNvPr id="5" name="Marcador de pie de página 4">
            <a:extLst>
              <a:ext uri="{FF2B5EF4-FFF2-40B4-BE49-F238E27FC236}">
                <a16:creationId xmlns:a16="http://schemas.microsoft.com/office/drawing/2014/main" id="{CC29BB9F-8DF4-541B-3B48-054D982B2FF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4BA28C5-BF47-1186-84D8-A96BCA416BA6}"/>
              </a:ext>
            </a:extLst>
          </p:cNvPr>
          <p:cNvSpPr>
            <a:spLocks noGrp="1"/>
          </p:cNvSpPr>
          <p:nvPr>
            <p:ph type="sldNum" sz="quarter" idx="12"/>
          </p:nvPr>
        </p:nvSpPr>
        <p:spPr/>
        <p:txBody>
          <a:bodyPr/>
          <a:lstStyle/>
          <a:p>
            <a:fld id="{B142A301-DFE9-4574-9DA3-DBBF505A15FC}" type="slidenum">
              <a:rPr lang="es-MX" smtClean="0"/>
              <a:t>‹Nº›</a:t>
            </a:fld>
            <a:endParaRPr lang="es-MX"/>
          </a:p>
        </p:txBody>
      </p:sp>
    </p:spTree>
    <p:extLst>
      <p:ext uri="{BB962C8B-B14F-4D97-AF65-F5344CB8AC3E}">
        <p14:creationId xmlns:p14="http://schemas.microsoft.com/office/powerpoint/2010/main" val="838872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24667C-435D-E22B-047A-A5AB53AF1B8F}"/>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2108C8BC-DFF9-CD3F-ADA9-B33163E64B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175D9698-B306-F52A-B6C3-C5C39AD7D05B}"/>
              </a:ext>
            </a:extLst>
          </p:cNvPr>
          <p:cNvSpPr>
            <a:spLocks noGrp="1"/>
          </p:cNvSpPr>
          <p:nvPr>
            <p:ph type="dt" sz="half" idx="10"/>
          </p:nvPr>
        </p:nvSpPr>
        <p:spPr/>
        <p:txBody>
          <a:bodyPr/>
          <a:lstStyle/>
          <a:p>
            <a:fld id="{039DD168-60A3-4B42-89DF-5D0D4EC10828}" type="datetimeFigureOut">
              <a:rPr lang="es-MX" smtClean="0"/>
              <a:t>22/05/2026</a:t>
            </a:fld>
            <a:endParaRPr lang="es-MX"/>
          </a:p>
        </p:txBody>
      </p:sp>
      <p:sp>
        <p:nvSpPr>
          <p:cNvPr id="5" name="Marcador de pie de página 4">
            <a:extLst>
              <a:ext uri="{FF2B5EF4-FFF2-40B4-BE49-F238E27FC236}">
                <a16:creationId xmlns:a16="http://schemas.microsoft.com/office/drawing/2014/main" id="{B13D9B78-78E3-50B8-0B2C-8D1375FC674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AFEC319-C51A-2070-1E00-131266E3F639}"/>
              </a:ext>
            </a:extLst>
          </p:cNvPr>
          <p:cNvSpPr>
            <a:spLocks noGrp="1"/>
          </p:cNvSpPr>
          <p:nvPr>
            <p:ph type="sldNum" sz="quarter" idx="12"/>
          </p:nvPr>
        </p:nvSpPr>
        <p:spPr/>
        <p:txBody>
          <a:bodyPr/>
          <a:lstStyle/>
          <a:p>
            <a:fld id="{B142A301-DFE9-4574-9DA3-DBBF505A15FC}" type="slidenum">
              <a:rPr lang="es-MX" smtClean="0"/>
              <a:t>‹Nº›</a:t>
            </a:fld>
            <a:endParaRPr lang="es-MX"/>
          </a:p>
        </p:txBody>
      </p:sp>
    </p:spTree>
    <p:extLst>
      <p:ext uri="{BB962C8B-B14F-4D97-AF65-F5344CB8AC3E}">
        <p14:creationId xmlns:p14="http://schemas.microsoft.com/office/powerpoint/2010/main" val="2145728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09154E-C6A4-7088-2920-EE2D3A1A9DC3}"/>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D7536C93-A0FD-21F4-9D6D-68F9D1EA877A}"/>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5E22442F-1E8B-B4AA-F24B-B2829A7D6DDF}"/>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804CF6D0-A80E-7BEA-2CD6-A5FE400AF09F}"/>
              </a:ext>
            </a:extLst>
          </p:cNvPr>
          <p:cNvSpPr>
            <a:spLocks noGrp="1"/>
          </p:cNvSpPr>
          <p:nvPr>
            <p:ph type="dt" sz="half" idx="10"/>
          </p:nvPr>
        </p:nvSpPr>
        <p:spPr/>
        <p:txBody>
          <a:bodyPr/>
          <a:lstStyle/>
          <a:p>
            <a:fld id="{039DD168-60A3-4B42-89DF-5D0D4EC10828}" type="datetimeFigureOut">
              <a:rPr lang="es-MX" smtClean="0"/>
              <a:t>22/05/2026</a:t>
            </a:fld>
            <a:endParaRPr lang="es-MX"/>
          </a:p>
        </p:txBody>
      </p:sp>
      <p:sp>
        <p:nvSpPr>
          <p:cNvPr id="6" name="Marcador de pie de página 5">
            <a:extLst>
              <a:ext uri="{FF2B5EF4-FFF2-40B4-BE49-F238E27FC236}">
                <a16:creationId xmlns:a16="http://schemas.microsoft.com/office/drawing/2014/main" id="{0A9D4B64-752A-97BC-0D8A-4130BB61B20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D858CFB-7CAC-BB68-35DE-C4D0D833FF69}"/>
              </a:ext>
            </a:extLst>
          </p:cNvPr>
          <p:cNvSpPr>
            <a:spLocks noGrp="1"/>
          </p:cNvSpPr>
          <p:nvPr>
            <p:ph type="sldNum" sz="quarter" idx="12"/>
          </p:nvPr>
        </p:nvSpPr>
        <p:spPr/>
        <p:txBody>
          <a:bodyPr/>
          <a:lstStyle/>
          <a:p>
            <a:fld id="{B142A301-DFE9-4574-9DA3-DBBF505A15FC}" type="slidenum">
              <a:rPr lang="es-MX" smtClean="0"/>
              <a:t>‹Nº›</a:t>
            </a:fld>
            <a:endParaRPr lang="es-MX"/>
          </a:p>
        </p:txBody>
      </p:sp>
    </p:spTree>
    <p:extLst>
      <p:ext uri="{BB962C8B-B14F-4D97-AF65-F5344CB8AC3E}">
        <p14:creationId xmlns:p14="http://schemas.microsoft.com/office/powerpoint/2010/main" val="3725930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24FE8A-D935-CABC-8622-C255389A14EE}"/>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A14D9FF3-DB0B-747D-98E5-DD39DDC82F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CBD3AB8D-486E-F724-E6AA-D88FEE4E4536}"/>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88CE218E-7E3B-FA27-4E96-A218465E33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AF3EFC99-4834-A1BE-9175-6D5962149E5A}"/>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147DE909-FEB3-D24B-BEC9-87477AC32645}"/>
              </a:ext>
            </a:extLst>
          </p:cNvPr>
          <p:cNvSpPr>
            <a:spLocks noGrp="1"/>
          </p:cNvSpPr>
          <p:nvPr>
            <p:ph type="dt" sz="half" idx="10"/>
          </p:nvPr>
        </p:nvSpPr>
        <p:spPr/>
        <p:txBody>
          <a:bodyPr/>
          <a:lstStyle/>
          <a:p>
            <a:fld id="{039DD168-60A3-4B42-89DF-5D0D4EC10828}" type="datetimeFigureOut">
              <a:rPr lang="es-MX" smtClean="0"/>
              <a:t>22/05/2026</a:t>
            </a:fld>
            <a:endParaRPr lang="es-MX"/>
          </a:p>
        </p:txBody>
      </p:sp>
      <p:sp>
        <p:nvSpPr>
          <p:cNvPr id="8" name="Marcador de pie de página 7">
            <a:extLst>
              <a:ext uri="{FF2B5EF4-FFF2-40B4-BE49-F238E27FC236}">
                <a16:creationId xmlns:a16="http://schemas.microsoft.com/office/drawing/2014/main" id="{A4CF6A3F-628E-2382-F2CD-3B9E01517170}"/>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34BF72AE-5BD4-DA50-5BB0-114139AF4369}"/>
              </a:ext>
            </a:extLst>
          </p:cNvPr>
          <p:cNvSpPr>
            <a:spLocks noGrp="1"/>
          </p:cNvSpPr>
          <p:nvPr>
            <p:ph type="sldNum" sz="quarter" idx="12"/>
          </p:nvPr>
        </p:nvSpPr>
        <p:spPr/>
        <p:txBody>
          <a:bodyPr/>
          <a:lstStyle/>
          <a:p>
            <a:fld id="{B142A301-DFE9-4574-9DA3-DBBF505A15FC}" type="slidenum">
              <a:rPr lang="es-MX" smtClean="0"/>
              <a:t>‹Nº›</a:t>
            </a:fld>
            <a:endParaRPr lang="es-MX"/>
          </a:p>
        </p:txBody>
      </p:sp>
    </p:spTree>
    <p:extLst>
      <p:ext uri="{BB962C8B-B14F-4D97-AF65-F5344CB8AC3E}">
        <p14:creationId xmlns:p14="http://schemas.microsoft.com/office/powerpoint/2010/main" val="3289598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4EAAA-D4DD-9833-E7AE-4A1EFADC5A69}"/>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537BFE4F-0DE3-233E-D608-0745A081F58D}"/>
              </a:ext>
            </a:extLst>
          </p:cNvPr>
          <p:cNvSpPr>
            <a:spLocks noGrp="1"/>
          </p:cNvSpPr>
          <p:nvPr>
            <p:ph type="dt" sz="half" idx="10"/>
          </p:nvPr>
        </p:nvSpPr>
        <p:spPr/>
        <p:txBody>
          <a:bodyPr/>
          <a:lstStyle/>
          <a:p>
            <a:fld id="{039DD168-60A3-4B42-89DF-5D0D4EC10828}" type="datetimeFigureOut">
              <a:rPr lang="es-MX" smtClean="0"/>
              <a:t>22/05/2026</a:t>
            </a:fld>
            <a:endParaRPr lang="es-MX"/>
          </a:p>
        </p:txBody>
      </p:sp>
      <p:sp>
        <p:nvSpPr>
          <p:cNvPr id="4" name="Marcador de pie de página 3">
            <a:extLst>
              <a:ext uri="{FF2B5EF4-FFF2-40B4-BE49-F238E27FC236}">
                <a16:creationId xmlns:a16="http://schemas.microsoft.com/office/drawing/2014/main" id="{DC69E69D-78FC-6AAD-21E2-EB7F9203D22D}"/>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64279942-08EE-BA63-3021-FED4D313FA05}"/>
              </a:ext>
            </a:extLst>
          </p:cNvPr>
          <p:cNvSpPr>
            <a:spLocks noGrp="1"/>
          </p:cNvSpPr>
          <p:nvPr>
            <p:ph type="sldNum" sz="quarter" idx="12"/>
          </p:nvPr>
        </p:nvSpPr>
        <p:spPr/>
        <p:txBody>
          <a:bodyPr/>
          <a:lstStyle/>
          <a:p>
            <a:fld id="{B142A301-DFE9-4574-9DA3-DBBF505A15FC}" type="slidenum">
              <a:rPr lang="es-MX" smtClean="0"/>
              <a:t>‹Nº›</a:t>
            </a:fld>
            <a:endParaRPr lang="es-MX"/>
          </a:p>
        </p:txBody>
      </p:sp>
    </p:spTree>
    <p:extLst>
      <p:ext uri="{BB962C8B-B14F-4D97-AF65-F5344CB8AC3E}">
        <p14:creationId xmlns:p14="http://schemas.microsoft.com/office/powerpoint/2010/main" val="370178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2D69619-EE36-E6B9-50E7-EB29F66C5018}"/>
              </a:ext>
            </a:extLst>
          </p:cNvPr>
          <p:cNvSpPr>
            <a:spLocks noGrp="1"/>
          </p:cNvSpPr>
          <p:nvPr>
            <p:ph type="dt" sz="half" idx="10"/>
          </p:nvPr>
        </p:nvSpPr>
        <p:spPr/>
        <p:txBody>
          <a:bodyPr/>
          <a:lstStyle/>
          <a:p>
            <a:fld id="{039DD168-60A3-4B42-89DF-5D0D4EC10828}" type="datetimeFigureOut">
              <a:rPr lang="es-MX" smtClean="0"/>
              <a:t>22/05/2026</a:t>
            </a:fld>
            <a:endParaRPr lang="es-MX"/>
          </a:p>
        </p:txBody>
      </p:sp>
      <p:sp>
        <p:nvSpPr>
          <p:cNvPr id="3" name="Marcador de pie de página 2">
            <a:extLst>
              <a:ext uri="{FF2B5EF4-FFF2-40B4-BE49-F238E27FC236}">
                <a16:creationId xmlns:a16="http://schemas.microsoft.com/office/drawing/2014/main" id="{9B2B6795-3161-F0CD-2DD7-276986EDFB86}"/>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53D84240-C2AF-FFC1-452E-29F0DC23EB85}"/>
              </a:ext>
            </a:extLst>
          </p:cNvPr>
          <p:cNvSpPr>
            <a:spLocks noGrp="1"/>
          </p:cNvSpPr>
          <p:nvPr>
            <p:ph type="sldNum" sz="quarter" idx="12"/>
          </p:nvPr>
        </p:nvSpPr>
        <p:spPr/>
        <p:txBody>
          <a:bodyPr/>
          <a:lstStyle/>
          <a:p>
            <a:fld id="{B142A301-DFE9-4574-9DA3-DBBF505A15FC}" type="slidenum">
              <a:rPr lang="es-MX" smtClean="0"/>
              <a:t>‹Nº›</a:t>
            </a:fld>
            <a:endParaRPr lang="es-MX"/>
          </a:p>
        </p:txBody>
      </p:sp>
    </p:spTree>
    <p:extLst>
      <p:ext uri="{BB962C8B-B14F-4D97-AF65-F5344CB8AC3E}">
        <p14:creationId xmlns:p14="http://schemas.microsoft.com/office/powerpoint/2010/main" val="2742137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1DBBA7-0594-B1F9-39AC-76C527DC1F58}"/>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3E298CF0-E47E-4445-4252-D40B33D687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8425C305-095B-FC24-9C55-BDA91A4294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C2F2F49E-7457-C477-0C2A-B86194D985D7}"/>
              </a:ext>
            </a:extLst>
          </p:cNvPr>
          <p:cNvSpPr>
            <a:spLocks noGrp="1"/>
          </p:cNvSpPr>
          <p:nvPr>
            <p:ph type="dt" sz="half" idx="10"/>
          </p:nvPr>
        </p:nvSpPr>
        <p:spPr/>
        <p:txBody>
          <a:bodyPr/>
          <a:lstStyle/>
          <a:p>
            <a:fld id="{039DD168-60A3-4B42-89DF-5D0D4EC10828}" type="datetimeFigureOut">
              <a:rPr lang="es-MX" smtClean="0"/>
              <a:t>22/05/2026</a:t>
            </a:fld>
            <a:endParaRPr lang="es-MX"/>
          </a:p>
        </p:txBody>
      </p:sp>
      <p:sp>
        <p:nvSpPr>
          <p:cNvPr id="6" name="Marcador de pie de página 5">
            <a:extLst>
              <a:ext uri="{FF2B5EF4-FFF2-40B4-BE49-F238E27FC236}">
                <a16:creationId xmlns:a16="http://schemas.microsoft.com/office/drawing/2014/main" id="{D3CF6CD9-9C54-07DB-555E-3B6406A348B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30FAC05-55F9-1A0A-F395-DBC06E4A741D}"/>
              </a:ext>
            </a:extLst>
          </p:cNvPr>
          <p:cNvSpPr>
            <a:spLocks noGrp="1"/>
          </p:cNvSpPr>
          <p:nvPr>
            <p:ph type="sldNum" sz="quarter" idx="12"/>
          </p:nvPr>
        </p:nvSpPr>
        <p:spPr/>
        <p:txBody>
          <a:bodyPr/>
          <a:lstStyle/>
          <a:p>
            <a:fld id="{B142A301-DFE9-4574-9DA3-DBBF505A15FC}" type="slidenum">
              <a:rPr lang="es-MX" smtClean="0"/>
              <a:t>‹Nº›</a:t>
            </a:fld>
            <a:endParaRPr lang="es-MX"/>
          </a:p>
        </p:txBody>
      </p:sp>
    </p:spTree>
    <p:extLst>
      <p:ext uri="{BB962C8B-B14F-4D97-AF65-F5344CB8AC3E}">
        <p14:creationId xmlns:p14="http://schemas.microsoft.com/office/powerpoint/2010/main" val="576714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DFE032-F82F-DA13-653A-2DC161F3E8E8}"/>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929DDEF6-A5CD-3902-1043-7446D6D58A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263D1E91-58A9-3849-CD21-3613EF1FDC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4F6AF0E0-5505-DF8C-352F-A35D5C3DB137}"/>
              </a:ext>
            </a:extLst>
          </p:cNvPr>
          <p:cNvSpPr>
            <a:spLocks noGrp="1"/>
          </p:cNvSpPr>
          <p:nvPr>
            <p:ph type="dt" sz="half" idx="10"/>
          </p:nvPr>
        </p:nvSpPr>
        <p:spPr/>
        <p:txBody>
          <a:bodyPr/>
          <a:lstStyle/>
          <a:p>
            <a:fld id="{039DD168-60A3-4B42-89DF-5D0D4EC10828}" type="datetimeFigureOut">
              <a:rPr lang="es-MX" smtClean="0"/>
              <a:t>22/05/2026</a:t>
            </a:fld>
            <a:endParaRPr lang="es-MX"/>
          </a:p>
        </p:txBody>
      </p:sp>
      <p:sp>
        <p:nvSpPr>
          <p:cNvPr id="6" name="Marcador de pie de página 5">
            <a:extLst>
              <a:ext uri="{FF2B5EF4-FFF2-40B4-BE49-F238E27FC236}">
                <a16:creationId xmlns:a16="http://schemas.microsoft.com/office/drawing/2014/main" id="{EFC10E4D-DAE9-9F9E-A7FE-9CA8CE38C54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9D37B07-689F-0788-981C-257392BBAD98}"/>
              </a:ext>
            </a:extLst>
          </p:cNvPr>
          <p:cNvSpPr>
            <a:spLocks noGrp="1"/>
          </p:cNvSpPr>
          <p:nvPr>
            <p:ph type="sldNum" sz="quarter" idx="12"/>
          </p:nvPr>
        </p:nvSpPr>
        <p:spPr/>
        <p:txBody>
          <a:bodyPr/>
          <a:lstStyle/>
          <a:p>
            <a:fld id="{B142A301-DFE9-4574-9DA3-DBBF505A15FC}" type="slidenum">
              <a:rPr lang="es-MX" smtClean="0"/>
              <a:t>‹Nº›</a:t>
            </a:fld>
            <a:endParaRPr lang="es-MX"/>
          </a:p>
        </p:txBody>
      </p:sp>
    </p:spTree>
    <p:extLst>
      <p:ext uri="{BB962C8B-B14F-4D97-AF65-F5344CB8AC3E}">
        <p14:creationId xmlns:p14="http://schemas.microsoft.com/office/powerpoint/2010/main" val="479329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9D66C2-CAEB-F473-A6DA-3B150710D8DD}"/>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35411A74-50BE-1121-1DB3-31861D18B4F3}"/>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B147EC89-8F23-49AD-D874-CE61A121345E}"/>
              </a:ext>
            </a:extLst>
          </p:cNvPr>
          <p:cNvSpPr>
            <a:spLocks noGrp="1"/>
          </p:cNvSpPr>
          <p:nvPr>
            <p:ph type="dt" sz="half" idx="10"/>
          </p:nvPr>
        </p:nvSpPr>
        <p:spPr/>
        <p:txBody>
          <a:bodyPr/>
          <a:lstStyle/>
          <a:p>
            <a:fld id="{039DD168-60A3-4B42-89DF-5D0D4EC10828}" type="datetimeFigureOut">
              <a:rPr lang="es-MX" smtClean="0"/>
              <a:t>22/05/2026</a:t>
            </a:fld>
            <a:endParaRPr lang="es-MX"/>
          </a:p>
        </p:txBody>
      </p:sp>
      <p:sp>
        <p:nvSpPr>
          <p:cNvPr id="5" name="Marcador de pie de página 4">
            <a:extLst>
              <a:ext uri="{FF2B5EF4-FFF2-40B4-BE49-F238E27FC236}">
                <a16:creationId xmlns:a16="http://schemas.microsoft.com/office/drawing/2014/main" id="{7CA06628-1743-BF44-22F4-470C5AD604B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BBDF580-A9DB-CE20-6FCA-433EA09A54E2}"/>
              </a:ext>
            </a:extLst>
          </p:cNvPr>
          <p:cNvSpPr>
            <a:spLocks noGrp="1"/>
          </p:cNvSpPr>
          <p:nvPr>
            <p:ph type="sldNum" sz="quarter" idx="12"/>
          </p:nvPr>
        </p:nvSpPr>
        <p:spPr/>
        <p:txBody>
          <a:bodyPr/>
          <a:lstStyle/>
          <a:p>
            <a:fld id="{B142A301-DFE9-4574-9DA3-DBBF505A15FC}" type="slidenum">
              <a:rPr lang="es-MX" smtClean="0"/>
              <a:t>‹Nº›</a:t>
            </a:fld>
            <a:endParaRPr lang="es-MX"/>
          </a:p>
        </p:txBody>
      </p:sp>
    </p:spTree>
    <p:extLst>
      <p:ext uri="{BB962C8B-B14F-4D97-AF65-F5344CB8AC3E}">
        <p14:creationId xmlns:p14="http://schemas.microsoft.com/office/powerpoint/2010/main" val="2532391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E71DA8E-C0F2-3FE3-DF51-7E435A39E19F}"/>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C4E8EC6D-9530-DEED-415D-DD2D215ED6D2}"/>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686C2D91-99B2-9329-E602-A9E7D71FAC6B}"/>
              </a:ext>
            </a:extLst>
          </p:cNvPr>
          <p:cNvSpPr>
            <a:spLocks noGrp="1"/>
          </p:cNvSpPr>
          <p:nvPr>
            <p:ph type="dt" sz="half" idx="10"/>
          </p:nvPr>
        </p:nvSpPr>
        <p:spPr/>
        <p:txBody>
          <a:bodyPr/>
          <a:lstStyle/>
          <a:p>
            <a:fld id="{039DD168-60A3-4B42-89DF-5D0D4EC10828}" type="datetimeFigureOut">
              <a:rPr lang="es-MX" smtClean="0"/>
              <a:t>22/05/2026</a:t>
            </a:fld>
            <a:endParaRPr lang="es-MX"/>
          </a:p>
        </p:txBody>
      </p:sp>
      <p:sp>
        <p:nvSpPr>
          <p:cNvPr id="5" name="Marcador de pie de página 4">
            <a:extLst>
              <a:ext uri="{FF2B5EF4-FFF2-40B4-BE49-F238E27FC236}">
                <a16:creationId xmlns:a16="http://schemas.microsoft.com/office/drawing/2014/main" id="{5AB82BA2-71D0-662B-982B-E9F1980C444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C95647A-E231-56B3-7F56-27C030AAE794}"/>
              </a:ext>
            </a:extLst>
          </p:cNvPr>
          <p:cNvSpPr>
            <a:spLocks noGrp="1"/>
          </p:cNvSpPr>
          <p:nvPr>
            <p:ph type="sldNum" sz="quarter" idx="12"/>
          </p:nvPr>
        </p:nvSpPr>
        <p:spPr/>
        <p:txBody>
          <a:bodyPr/>
          <a:lstStyle/>
          <a:p>
            <a:fld id="{B142A301-DFE9-4574-9DA3-DBBF505A15FC}" type="slidenum">
              <a:rPr lang="es-MX" smtClean="0"/>
              <a:t>‹Nº›</a:t>
            </a:fld>
            <a:endParaRPr lang="es-MX"/>
          </a:p>
        </p:txBody>
      </p:sp>
    </p:spTree>
    <p:extLst>
      <p:ext uri="{BB962C8B-B14F-4D97-AF65-F5344CB8AC3E}">
        <p14:creationId xmlns:p14="http://schemas.microsoft.com/office/powerpoint/2010/main" val="6853980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____Master1-Layout2-obj-Título-y-objetos">
    <p:spTree>
      <p:nvGrpSpPr>
        <p:cNvPr id="1" name="noGroup"/>
        <p:cNvGrpSpPr/>
        <p:nvPr/>
      </p:nvGrpSpPr>
      <p:grpSpPr>
        <a:xfrm>
          <a:off x="0" y="0"/>
          <a:ext cx="0" cy="0"/>
          <a:chOff x="0" y="0"/>
          <a:chExt cx="0" cy="0"/>
        </a:xfrm>
      </p:grpSpPr>
      <p:sp>
        <p:nvSpPr>
          <p:cNvPr id="2" name="place_holder"/>
          <p:cNvSpPr txBox="1">
            <a:spLocks noGrp="1"/>
          </p:cNvSpPr>
          <p:nvPr>
            <p:ph type="title" idx="4294967295"/>
          </p:nvPr>
        </p:nvSpPr>
        <p:spPr>
          <a:xfrm>
            <a:off x="838027" y="365017"/>
            <a:ext cx="10514937" cy="1325436"/>
          </a:xfrm>
        </p:spPr>
        <p:txBody>
          <a:bodyPr/>
          <a:lstStyle/>
          <a:p>
            <a:endParaRPr/>
          </a:p>
        </p:txBody>
      </p:sp>
      <p:sp>
        <p:nvSpPr>
          <p:cNvPr id="3" name="place_holder"/>
          <p:cNvSpPr txBox="1">
            <a:spLocks noGrp="1"/>
          </p:cNvSpPr>
          <p:nvPr>
            <p:ph type="body" idx="4294967295"/>
          </p:nvPr>
        </p:nvSpPr>
        <p:spPr>
          <a:xfrm>
            <a:off x="838027" y="1825804"/>
            <a:ext cx="10514937" cy="4352125"/>
          </a:xfrm>
        </p:spPr>
        <p:txBody>
          <a:bodyPr/>
          <a:lstStyle/>
          <a:p>
            <a:endParaRPr/>
          </a:p>
        </p:txBody>
      </p:sp>
    </p:spTree>
    <p:extLst>
      <p:ext uri="{BB962C8B-B14F-4D97-AF65-F5344CB8AC3E}">
        <p14:creationId xmlns:p14="http://schemas.microsoft.com/office/powerpoint/2010/main" val="1549547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____Master1-Layout3-secHead-Encabezado-de-sección">
    <p:spTree>
      <p:nvGrpSpPr>
        <p:cNvPr id="1" name="noGroup"/>
        <p:cNvGrpSpPr/>
        <p:nvPr/>
      </p:nvGrpSpPr>
      <p:grpSpPr>
        <a:xfrm>
          <a:off x="0" y="0"/>
          <a:ext cx="0" cy="0"/>
          <a:chOff x="0" y="0"/>
          <a:chExt cx="0" cy="0"/>
        </a:xfrm>
      </p:grpSpPr>
      <p:sp>
        <p:nvSpPr>
          <p:cNvPr id="2" name="place_holder"/>
          <p:cNvSpPr txBox="1">
            <a:spLocks noGrp="1"/>
          </p:cNvSpPr>
          <p:nvPr>
            <p:ph type="title" idx="4294967295"/>
          </p:nvPr>
        </p:nvSpPr>
        <p:spPr>
          <a:xfrm>
            <a:off x="831907" y="1709892"/>
            <a:ext cx="10514937" cy="2852820"/>
          </a:xfrm>
        </p:spPr>
        <p:txBody>
          <a:bodyPr/>
          <a:lstStyle/>
          <a:p>
            <a:endParaRPr/>
          </a:p>
        </p:txBody>
      </p:sp>
      <p:sp>
        <p:nvSpPr>
          <p:cNvPr id="3" name="place_holder"/>
          <p:cNvSpPr txBox="1">
            <a:spLocks noGrp="1"/>
          </p:cNvSpPr>
          <p:nvPr>
            <p:ph type="body" idx="4294967295"/>
          </p:nvPr>
        </p:nvSpPr>
        <p:spPr>
          <a:xfrm>
            <a:off x="831907" y="4589710"/>
            <a:ext cx="10514937" cy="1500025"/>
          </a:xfrm>
        </p:spPr>
        <p:txBody>
          <a:bodyPr/>
          <a:lstStyle/>
          <a:p>
            <a:endParaRPr/>
          </a:p>
        </p:txBody>
      </p:sp>
    </p:spTree>
    <p:extLst>
      <p:ext uri="{BB962C8B-B14F-4D97-AF65-F5344CB8AC3E}">
        <p14:creationId xmlns:p14="http://schemas.microsoft.com/office/powerpoint/2010/main" val="1125498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C2A5784-A531-8FDD-2005-DEF18859DC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97423449-FE5F-7B10-E239-7B2825B595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2468D33D-AF07-5512-65A7-28F48D0AA7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9DD168-60A3-4B42-89DF-5D0D4EC10828}" type="datetimeFigureOut">
              <a:rPr lang="es-MX" smtClean="0"/>
              <a:t>22/05/2026</a:t>
            </a:fld>
            <a:endParaRPr lang="es-MX"/>
          </a:p>
        </p:txBody>
      </p:sp>
      <p:sp>
        <p:nvSpPr>
          <p:cNvPr id="5" name="Marcador de pie de página 4">
            <a:extLst>
              <a:ext uri="{FF2B5EF4-FFF2-40B4-BE49-F238E27FC236}">
                <a16:creationId xmlns:a16="http://schemas.microsoft.com/office/drawing/2014/main" id="{FC9F6A71-B104-5779-0052-E0A1CD4BEA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19605B71-2595-C75D-316F-2F3762E6CC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42A301-DFE9-4574-9DA3-DBBF505A15FC}" type="slidenum">
              <a:rPr lang="es-MX" smtClean="0"/>
              <a:t>‹Nº›</a:t>
            </a:fld>
            <a:endParaRPr lang="es-MX"/>
          </a:p>
        </p:txBody>
      </p:sp>
    </p:spTree>
    <p:extLst>
      <p:ext uri="{BB962C8B-B14F-4D97-AF65-F5344CB8AC3E}">
        <p14:creationId xmlns:p14="http://schemas.microsoft.com/office/powerpoint/2010/main" val="38365143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6221F5-0394-A3CE-6F5A-66A2987ABBE0}"/>
              </a:ext>
            </a:extLst>
          </p:cNvPr>
          <p:cNvSpPr>
            <a:spLocks noGrp="1"/>
          </p:cNvSpPr>
          <p:nvPr>
            <p:ph type="ctrTitle"/>
          </p:nvPr>
        </p:nvSpPr>
        <p:spPr/>
        <p:txBody>
          <a:bodyPr/>
          <a:lstStyle/>
          <a:p>
            <a:r>
              <a:rPr lang="es-MX" dirty="0" err="1"/>
              <a:t>Presentacion</a:t>
            </a:r>
            <a:r>
              <a:rPr lang="es-MX" dirty="0"/>
              <a:t> Patrones de Diseño</a:t>
            </a:r>
          </a:p>
        </p:txBody>
      </p:sp>
      <p:sp>
        <p:nvSpPr>
          <p:cNvPr id="3" name="Subtítulo 2">
            <a:extLst>
              <a:ext uri="{FF2B5EF4-FFF2-40B4-BE49-F238E27FC236}">
                <a16:creationId xmlns:a16="http://schemas.microsoft.com/office/drawing/2014/main" id="{4915B394-C519-2F19-45D2-773F6410CA59}"/>
              </a:ext>
            </a:extLst>
          </p:cNvPr>
          <p:cNvSpPr>
            <a:spLocks noGrp="1"/>
          </p:cNvSpPr>
          <p:nvPr>
            <p:ph type="subTitle" idx="1"/>
          </p:nvPr>
        </p:nvSpPr>
        <p:spPr/>
        <p:txBody>
          <a:bodyPr>
            <a:normAutofit lnSpcReduction="10000"/>
          </a:bodyPr>
          <a:lstStyle/>
          <a:p>
            <a:r>
              <a:rPr lang="es-MX" dirty="0"/>
              <a:t>Principios de Diseño de Software</a:t>
            </a:r>
          </a:p>
          <a:p>
            <a:endParaRPr lang="es-MX" dirty="0"/>
          </a:p>
          <a:p>
            <a:r>
              <a:rPr lang="es-MX" dirty="0"/>
              <a:t>Lenin </a:t>
            </a:r>
            <a:r>
              <a:rPr lang="es-MX" dirty="0" err="1"/>
              <a:t>Jesus</a:t>
            </a:r>
            <a:r>
              <a:rPr lang="es-MX" dirty="0"/>
              <a:t> </a:t>
            </a:r>
            <a:r>
              <a:rPr lang="es-MX" dirty="0" err="1"/>
              <a:t>Hernandez</a:t>
            </a:r>
            <a:r>
              <a:rPr lang="es-MX" dirty="0"/>
              <a:t> </a:t>
            </a:r>
            <a:r>
              <a:rPr lang="es-MX" dirty="0" err="1"/>
              <a:t>Ramirez</a:t>
            </a:r>
            <a:br>
              <a:rPr lang="es-MX" dirty="0"/>
            </a:br>
            <a:r>
              <a:rPr lang="es-MX" dirty="0"/>
              <a:t>Contreras Mo</a:t>
            </a:r>
          </a:p>
        </p:txBody>
      </p:sp>
    </p:spTree>
    <p:extLst>
      <p:ext uri="{BB962C8B-B14F-4D97-AF65-F5344CB8AC3E}">
        <p14:creationId xmlns:p14="http://schemas.microsoft.com/office/powerpoint/2010/main" val="862741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041ABAEB-9FE5-78EE-78E2-C7E6A67BD84A}"/>
              </a:ext>
            </a:extLst>
          </p:cNvPr>
          <p:cNvSpPr>
            <a:spLocks noGrp="1"/>
          </p:cNvSpPr>
          <p:nvPr>
            <p:ph type="title"/>
          </p:nvPr>
        </p:nvSpPr>
        <p:spPr/>
        <p:txBody>
          <a:bodyPr/>
          <a:lstStyle/>
          <a:p>
            <a:r>
              <a:rPr lang="es-MX" dirty="0"/>
              <a:t>BUILDER</a:t>
            </a:r>
          </a:p>
        </p:txBody>
      </p:sp>
      <p:sp>
        <p:nvSpPr>
          <p:cNvPr id="5" name="Marcador de texto 4">
            <a:extLst>
              <a:ext uri="{FF2B5EF4-FFF2-40B4-BE49-F238E27FC236}">
                <a16:creationId xmlns:a16="http://schemas.microsoft.com/office/drawing/2014/main" id="{B2ECEE87-7AE1-2027-BF8B-8B08258ED94D}"/>
              </a:ext>
            </a:extLst>
          </p:cNvPr>
          <p:cNvSpPr>
            <a:spLocks noGrp="1"/>
          </p:cNvSpPr>
          <p:nvPr>
            <p:ph type="body" idx="1"/>
          </p:nvPr>
        </p:nvSpPr>
        <p:spPr/>
        <p:txBody>
          <a:bodyPr/>
          <a:lstStyle/>
          <a:p>
            <a:endParaRPr lang="es-MX" dirty="0"/>
          </a:p>
        </p:txBody>
      </p:sp>
      <p:pic>
        <p:nvPicPr>
          <p:cNvPr id="7" name="Imagen 6">
            <a:extLst>
              <a:ext uri="{FF2B5EF4-FFF2-40B4-BE49-F238E27FC236}">
                <a16:creationId xmlns:a16="http://schemas.microsoft.com/office/drawing/2014/main" id="{3780B6D1-4B77-2771-22A1-8699F9211231}"/>
              </a:ext>
            </a:extLst>
          </p:cNvPr>
          <p:cNvPicPr>
            <a:picLocks noChangeAspect="1"/>
          </p:cNvPicPr>
          <p:nvPr/>
        </p:nvPicPr>
        <p:blipFill>
          <a:blip r:embed="rId2"/>
          <a:stretch>
            <a:fillRect/>
          </a:stretch>
        </p:blipFill>
        <p:spPr>
          <a:xfrm>
            <a:off x="7208414" y="1052248"/>
            <a:ext cx="4151736" cy="4517528"/>
          </a:xfrm>
          <a:prstGeom prst="rect">
            <a:avLst/>
          </a:prstGeom>
        </p:spPr>
      </p:pic>
    </p:spTree>
    <p:extLst>
      <p:ext uri="{BB962C8B-B14F-4D97-AF65-F5344CB8AC3E}">
        <p14:creationId xmlns:p14="http://schemas.microsoft.com/office/powerpoint/2010/main" val="257297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noGroup"/>
        <p:cNvGrpSpPr/>
        <p:nvPr/>
      </p:nvGrpSpPr>
      <p:grpSpPr>
        <a:xfrm>
          <a:off x="0" y="0"/>
          <a:ext cx="0" cy="0"/>
          <a:chOff x="0" y="0"/>
          <a:chExt cx="0" cy="0"/>
        </a:xfrm>
      </p:grpSpPr>
      <p:sp>
        <p:nvSpPr>
          <p:cNvPr id="2" name="Título 1"/>
          <p:cNvSpPr txBox="1">
            <a:spLocks noGrp="1"/>
          </p:cNvSpPr>
          <p:nvPr>
            <p:ph type="title" idx="4294967295"/>
          </p:nvPr>
        </p:nvSpPr>
        <p:spPr>
          <a:xfrm>
            <a:off x="838027" y="365017"/>
            <a:ext cx="10514937" cy="1325436"/>
          </a:xfrm>
          <a:prstGeom prst="rect">
            <a:avLst/>
          </a:prstGeom>
          <a:noFill/>
          <a:ln>
            <a:noFill/>
          </a:ln>
          <a:effectLst/>
        </p:spPr>
        <p:txBody>
          <a:bodyPr lIns="91440" tIns="45720" rIns="91440" bIns="45720" anchor="ctr"/>
          <a:lstStyle/>
          <a:p>
            <a:pPr marL="0" marR="0" indent="0" algn="l">
              <a:lnSpc>
                <a:spcPct val="90000"/>
              </a:lnSpc>
              <a:spcBef>
                <a:spcPts val="0"/>
              </a:spcBef>
              <a:spcAft>
                <a:spcPts val="0"/>
              </a:spcAft>
            </a:pPr>
            <a:r>
              <a:rPr lang="es-MX" sz="4400" u="none" spc="0" dirty="0">
                <a:solidFill>
                  <a:srgbClr val="000000"/>
                </a:solidFill>
                <a:latin typeface="Aptos Display"/>
                <a:cs typeface="Aptos Display"/>
              </a:rPr>
              <a:t>BUILDER– ANALOGÍA</a:t>
            </a:r>
            <a:endParaRPr dirty="0"/>
          </a:p>
        </p:txBody>
      </p:sp>
      <p:sp>
        <p:nvSpPr>
          <p:cNvPr id="3" name="Marcador de contenido 2"/>
          <p:cNvSpPr txBox="1">
            <a:spLocks noGrp="1"/>
          </p:cNvSpPr>
          <p:nvPr>
            <p:ph idx="4294967295"/>
          </p:nvPr>
        </p:nvSpPr>
        <p:spPr>
          <a:xfrm>
            <a:off x="838027" y="1825804"/>
            <a:ext cx="5709240" cy="4352125"/>
          </a:xfrm>
          <a:prstGeom prst="rect">
            <a:avLst/>
          </a:prstGeom>
          <a:noFill/>
          <a:ln>
            <a:noFill/>
          </a:ln>
          <a:effectLst/>
        </p:spPr>
        <p:txBody>
          <a:bodyPr lIns="91440" tIns="45720" rIns="91440" bIns="45720" anchor="t"/>
          <a:lstStyle/>
          <a:p>
            <a:pPr marL="0" marR="0" indent="0" algn="l">
              <a:lnSpc>
                <a:spcPct val="90000"/>
              </a:lnSpc>
              <a:spcBef>
                <a:spcPts val="1000"/>
              </a:spcBef>
              <a:spcAft>
                <a:spcPts val="0"/>
              </a:spcAft>
            </a:pPr>
            <a:r>
              <a:rPr lang="es-ES" sz="2800" u="none" spc="0" dirty="0">
                <a:solidFill>
                  <a:srgbClr val="000000"/>
                </a:solidFill>
                <a:latin typeface="Aptos"/>
                <a:cs typeface="Aptos"/>
              </a:rPr>
              <a:t>Imaginemos que se tiene que construir una casa con su estructura (paredes, puerta, ventanas), pero habrá situaciones donde la casa que tengamos que construir tendrá otros componentes. Crear un objeto tan complejo no puede crearse a partir de nuestra formula de casa original.</a:t>
            </a:r>
            <a:endParaRPr dirty="0"/>
          </a:p>
        </p:txBody>
      </p:sp>
      <p:pic>
        <p:nvPicPr>
          <p:cNvPr id="4" name="Imagen 6"/>
          <p:cNvPicPr/>
          <p:nvPr/>
        </p:nvPicPr>
        <p:blipFill>
          <a:blip r:embed="rId3"/>
          <a:stretch>
            <a:fillRect/>
          </a:stretch>
        </p:blipFill>
        <p:spPr>
          <a:xfrm>
            <a:off x="6943962" y="717074"/>
            <a:ext cx="3790561" cy="2525240"/>
          </a:xfrm>
          <a:prstGeom prst="rect">
            <a:avLst/>
          </a:prstGeom>
          <a:ln>
            <a:noFill/>
          </a:ln>
          <a:effectLst/>
        </p:spPr>
      </p:pic>
      <p:pic>
        <p:nvPicPr>
          <p:cNvPr id="5" name="Imagen 8"/>
          <p:cNvPicPr/>
          <p:nvPr/>
        </p:nvPicPr>
        <p:blipFill>
          <a:blip r:embed="rId4"/>
          <a:stretch>
            <a:fillRect/>
          </a:stretch>
        </p:blipFill>
        <p:spPr>
          <a:xfrm>
            <a:off x="6943962" y="3404305"/>
            <a:ext cx="3790561" cy="2527760"/>
          </a:xfrm>
          <a:prstGeom prst="rect">
            <a:avLst/>
          </a:prstGeom>
          <a:ln>
            <a:noFill/>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71F4A8BA-A9CF-D658-DC5C-0F825424F155}"/>
              </a:ext>
            </a:extLst>
          </p:cNvPr>
          <p:cNvSpPr>
            <a:spLocks noGrp="1"/>
          </p:cNvSpPr>
          <p:nvPr>
            <p:ph type="title"/>
          </p:nvPr>
        </p:nvSpPr>
        <p:spPr/>
        <p:txBody>
          <a:bodyPr/>
          <a:lstStyle/>
          <a:p>
            <a:r>
              <a:rPr lang="es-MX" dirty="0"/>
              <a:t>Definición</a:t>
            </a:r>
          </a:p>
        </p:txBody>
      </p:sp>
      <p:sp>
        <p:nvSpPr>
          <p:cNvPr id="5" name="Marcador de contenido 4">
            <a:extLst>
              <a:ext uri="{FF2B5EF4-FFF2-40B4-BE49-F238E27FC236}">
                <a16:creationId xmlns:a16="http://schemas.microsoft.com/office/drawing/2014/main" id="{36F60D7C-8FDF-84C8-ED34-99BEFF45B302}"/>
              </a:ext>
            </a:extLst>
          </p:cNvPr>
          <p:cNvSpPr>
            <a:spLocks noGrp="1"/>
          </p:cNvSpPr>
          <p:nvPr>
            <p:ph idx="1"/>
          </p:nvPr>
        </p:nvSpPr>
        <p:spPr/>
        <p:txBody>
          <a:bodyPr/>
          <a:lstStyle/>
          <a:p>
            <a:pPr marL="0" indent="0">
              <a:buNone/>
            </a:pPr>
            <a:r>
              <a:rPr lang="es-MX" b="1" dirty="0"/>
              <a:t>BUILDER</a:t>
            </a:r>
            <a:r>
              <a:rPr lang="es-MX" dirty="0"/>
              <a:t> es un patrón de diseño que nos permite construir objetos complejos paso a paso. El patrón nos permite producir distintos tipos y representaciones de un objeto empleando el mismo código de construcción.</a:t>
            </a:r>
          </a:p>
          <a:p>
            <a:r>
              <a:rPr lang="es-MX" dirty="0"/>
              <a:t>Tipo de Patron: Creacional</a:t>
            </a:r>
          </a:p>
          <a:p>
            <a:r>
              <a:rPr lang="es-MX" dirty="0"/>
              <a:t>Alcance: Objeto</a:t>
            </a:r>
          </a:p>
          <a:p>
            <a:r>
              <a:rPr lang="es-MX" dirty="0"/>
              <a:t>Alias: Sin Alias Conocidos</a:t>
            </a:r>
          </a:p>
          <a:p>
            <a:endParaRPr lang="es-MX" dirty="0"/>
          </a:p>
        </p:txBody>
      </p:sp>
      <p:sp>
        <p:nvSpPr>
          <p:cNvPr id="11" name="CuadroTexto 10">
            <a:extLst>
              <a:ext uri="{FF2B5EF4-FFF2-40B4-BE49-F238E27FC236}">
                <a16:creationId xmlns:a16="http://schemas.microsoft.com/office/drawing/2014/main" id="{FAF555B7-6070-0025-C3F0-A124B60F16FB}"/>
              </a:ext>
            </a:extLst>
          </p:cNvPr>
          <p:cNvSpPr txBox="1"/>
          <p:nvPr/>
        </p:nvSpPr>
        <p:spPr>
          <a:xfrm>
            <a:off x="838200" y="6016311"/>
            <a:ext cx="6098458" cy="369332"/>
          </a:xfrm>
          <a:prstGeom prst="rect">
            <a:avLst/>
          </a:prstGeom>
          <a:noFill/>
        </p:spPr>
        <p:txBody>
          <a:bodyPr wrap="square">
            <a:spAutoFit/>
          </a:bodyPr>
          <a:lstStyle/>
          <a:p>
            <a:pPr>
              <a:defRPr/>
            </a:pPr>
            <a:r>
              <a:rPr lang="es-MX" dirty="0">
                <a:solidFill>
                  <a:schemeClr val="tx1">
                    <a:lumMod val="65000"/>
                    <a:lumOff val="35000"/>
                  </a:schemeClr>
                </a:solidFill>
              </a:rPr>
              <a:t>(</a:t>
            </a:r>
            <a:r>
              <a:rPr lang="es-MX" dirty="0" err="1">
                <a:solidFill>
                  <a:schemeClr val="tx1">
                    <a:lumMod val="65000"/>
                    <a:lumOff val="35000"/>
                  </a:schemeClr>
                </a:solidFill>
              </a:rPr>
              <a:t>Refactoring.Guru</a:t>
            </a:r>
            <a:r>
              <a:rPr lang="es-MX" dirty="0">
                <a:solidFill>
                  <a:schemeClr val="tx1">
                    <a:lumMod val="65000"/>
                    <a:lumOff val="35000"/>
                  </a:schemeClr>
                </a:solidFill>
              </a:rPr>
              <a:t>, 2026)</a:t>
            </a:r>
          </a:p>
        </p:txBody>
      </p:sp>
    </p:spTree>
    <p:extLst>
      <p:ext uri="{BB962C8B-B14F-4D97-AF65-F5344CB8AC3E}">
        <p14:creationId xmlns:p14="http://schemas.microsoft.com/office/powerpoint/2010/main" val="2678939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63F247EF-F556-E071-5FE3-1ADD7C4F4506}"/>
              </a:ext>
            </a:extLst>
          </p:cNvPr>
          <p:cNvSpPr>
            <a:spLocks noGrp="1"/>
          </p:cNvSpPr>
          <p:nvPr>
            <p:ph type="title"/>
          </p:nvPr>
        </p:nvSpPr>
        <p:spPr>
          <a:xfrm>
            <a:off x="838200" y="664778"/>
            <a:ext cx="5181600" cy="726256"/>
          </a:xfrm>
        </p:spPr>
        <p:txBody>
          <a:bodyPr/>
          <a:lstStyle/>
          <a:p>
            <a:r>
              <a:rPr lang="es-MX" dirty="0"/>
              <a:t>Intención</a:t>
            </a:r>
          </a:p>
        </p:txBody>
      </p:sp>
      <p:sp>
        <p:nvSpPr>
          <p:cNvPr id="5" name="Marcador de contenido 4">
            <a:extLst>
              <a:ext uri="{FF2B5EF4-FFF2-40B4-BE49-F238E27FC236}">
                <a16:creationId xmlns:a16="http://schemas.microsoft.com/office/drawing/2014/main" id="{5AA6EEE0-D905-2240-AD58-35D493C66E30}"/>
              </a:ext>
            </a:extLst>
          </p:cNvPr>
          <p:cNvSpPr>
            <a:spLocks noGrp="1"/>
          </p:cNvSpPr>
          <p:nvPr>
            <p:ph sz="half" idx="1"/>
          </p:nvPr>
        </p:nvSpPr>
        <p:spPr>
          <a:xfrm>
            <a:off x="838200" y="1391034"/>
            <a:ext cx="5181600" cy="4785929"/>
          </a:xfrm>
        </p:spPr>
        <p:txBody>
          <a:bodyPr/>
          <a:lstStyle/>
          <a:p>
            <a:pPr marL="0" indent="0">
              <a:buNone/>
            </a:pPr>
            <a:r>
              <a:rPr lang="es-MX" dirty="0"/>
              <a:t>“Separar la construcción de un objeto complejo de su representación de modo que el mismo proceso de construcción pueda crear diferentes representaciones.”</a:t>
            </a:r>
          </a:p>
        </p:txBody>
      </p:sp>
      <p:sp>
        <p:nvSpPr>
          <p:cNvPr id="6" name="Marcador de contenido 5">
            <a:extLst>
              <a:ext uri="{FF2B5EF4-FFF2-40B4-BE49-F238E27FC236}">
                <a16:creationId xmlns:a16="http://schemas.microsoft.com/office/drawing/2014/main" id="{7BED80CE-886B-0EC6-E9F4-B7EAF1318C9B}"/>
              </a:ext>
            </a:extLst>
          </p:cNvPr>
          <p:cNvSpPr>
            <a:spLocks noGrp="1"/>
          </p:cNvSpPr>
          <p:nvPr>
            <p:ph sz="half" idx="2"/>
          </p:nvPr>
        </p:nvSpPr>
        <p:spPr>
          <a:xfrm>
            <a:off x="6172200" y="1391034"/>
            <a:ext cx="5181600" cy="4785929"/>
          </a:xfrm>
        </p:spPr>
        <p:txBody>
          <a:bodyPr/>
          <a:lstStyle/>
          <a:p>
            <a:pPr marL="0" indent="0">
              <a:buNone/>
            </a:pPr>
            <a:r>
              <a:rPr lang="es-MX" dirty="0">
                <a:solidFill>
                  <a:srgbClr val="000000"/>
                </a:solidFill>
                <a:cs typeface="Aptos"/>
              </a:rPr>
              <a:t>El problema fundamental que originó la creación del patrón </a:t>
            </a:r>
            <a:r>
              <a:rPr lang="es-MX" b="1" dirty="0">
                <a:solidFill>
                  <a:srgbClr val="000000"/>
                </a:solidFill>
                <a:cs typeface="Aptos"/>
              </a:rPr>
              <a:t>BUILDER</a:t>
            </a:r>
            <a:r>
              <a:rPr lang="es-MX" dirty="0">
                <a:solidFill>
                  <a:srgbClr val="000000"/>
                </a:solidFill>
                <a:cs typeface="Aptos"/>
              </a:rPr>
              <a:t> es la creación de objetos complejos que tienen una inicialización demasiado grande.</a:t>
            </a:r>
            <a:endParaRPr lang="es-MX" dirty="0"/>
          </a:p>
        </p:txBody>
      </p:sp>
      <p:sp>
        <p:nvSpPr>
          <p:cNvPr id="7" name="Título 3">
            <a:extLst>
              <a:ext uri="{FF2B5EF4-FFF2-40B4-BE49-F238E27FC236}">
                <a16:creationId xmlns:a16="http://schemas.microsoft.com/office/drawing/2014/main" id="{F70245FF-5288-C9D5-1F6C-330084038870}"/>
              </a:ext>
            </a:extLst>
          </p:cNvPr>
          <p:cNvSpPr txBox="1">
            <a:spLocks/>
          </p:cNvSpPr>
          <p:nvPr/>
        </p:nvSpPr>
        <p:spPr>
          <a:xfrm>
            <a:off x="6172200" y="664777"/>
            <a:ext cx="5181600" cy="7262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dirty="0"/>
              <a:t>Problema</a:t>
            </a:r>
          </a:p>
        </p:txBody>
      </p:sp>
      <p:sp>
        <p:nvSpPr>
          <p:cNvPr id="8" name="CuadroTexto 7">
            <a:extLst>
              <a:ext uri="{FF2B5EF4-FFF2-40B4-BE49-F238E27FC236}">
                <a16:creationId xmlns:a16="http://schemas.microsoft.com/office/drawing/2014/main" id="{ADB9121A-F5A0-E2AD-1DB2-28F9677D5508}"/>
              </a:ext>
            </a:extLst>
          </p:cNvPr>
          <p:cNvSpPr txBox="1"/>
          <p:nvPr/>
        </p:nvSpPr>
        <p:spPr>
          <a:xfrm>
            <a:off x="838200" y="3783998"/>
            <a:ext cx="5181600" cy="369332"/>
          </a:xfrm>
          <a:prstGeom prst="rect">
            <a:avLst/>
          </a:prstGeom>
          <a:noFill/>
        </p:spPr>
        <p:txBody>
          <a:bodyPr wrap="square" rtlCol="0">
            <a:spAutoFit/>
          </a:bodyPr>
          <a:lstStyle/>
          <a:p>
            <a:r>
              <a:rPr lang="es-MX" dirty="0">
                <a:solidFill>
                  <a:schemeClr val="tx1">
                    <a:lumMod val="75000"/>
                    <a:lumOff val="25000"/>
                  </a:schemeClr>
                </a:solidFill>
              </a:rPr>
              <a:t>Fragmento Extraído de: Gamma et al., 1994</a:t>
            </a:r>
          </a:p>
        </p:txBody>
      </p:sp>
    </p:spTree>
    <p:extLst>
      <p:ext uri="{BB962C8B-B14F-4D97-AF65-F5344CB8AC3E}">
        <p14:creationId xmlns:p14="http://schemas.microsoft.com/office/powerpoint/2010/main" val="1776076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46A86C-367C-5B3A-DF1C-FD81C8C580B8}"/>
              </a:ext>
            </a:extLst>
          </p:cNvPr>
          <p:cNvSpPr>
            <a:spLocks noGrp="1"/>
          </p:cNvSpPr>
          <p:nvPr>
            <p:ph type="title"/>
          </p:nvPr>
        </p:nvSpPr>
        <p:spPr>
          <a:xfrm>
            <a:off x="838200" y="681037"/>
            <a:ext cx="2789903" cy="962230"/>
          </a:xfrm>
        </p:spPr>
        <p:txBody>
          <a:bodyPr/>
          <a:lstStyle/>
          <a:p>
            <a:r>
              <a:rPr lang="es-MX" dirty="0"/>
              <a:t>Motivación</a:t>
            </a:r>
          </a:p>
        </p:txBody>
      </p:sp>
      <p:sp>
        <p:nvSpPr>
          <p:cNvPr id="3" name="Marcador de contenido 2">
            <a:extLst>
              <a:ext uri="{FF2B5EF4-FFF2-40B4-BE49-F238E27FC236}">
                <a16:creationId xmlns:a16="http://schemas.microsoft.com/office/drawing/2014/main" id="{BC19130C-5C60-B38E-564D-069D7D85E9B9}"/>
              </a:ext>
            </a:extLst>
          </p:cNvPr>
          <p:cNvSpPr>
            <a:spLocks noGrp="1"/>
          </p:cNvSpPr>
          <p:nvPr>
            <p:ph sz="half" idx="1"/>
          </p:nvPr>
        </p:nvSpPr>
        <p:spPr>
          <a:xfrm>
            <a:off x="838200" y="1631130"/>
            <a:ext cx="5181600" cy="4545833"/>
          </a:xfrm>
        </p:spPr>
        <p:txBody>
          <a:bodyPr>
            <a:normAutofit fontScale="92500" lnSpcReduction="10000"/>
          </a:bodyPr>
          <a:lstStyle/>
          <a:p>
            <a:r>
              <a:rPr lang="es-MX" dirty="0"/>
              <a:t>Evitar Constructores demasiado Grandes</a:t>
            </a:r>
          </a:p>
          <a:p>
            <a:r>
              <a:rPr lang="es-MX" dirty="0"/>
              <a:t>Control de la Creación de nuevos Objetos</a:t>
            </a:r>
          </a:p>
          <a:p>
            <a:r>
              <a:rPr lang="es-MX" dirty="0"/>
              <a:t>Creación de diferentes objetos con el mismo proceso</a:t>
            </a:r>
          </a:p>
        </p:txBody>
      </p:sp>
      <p:sp>
        <p:nvSpPr>
          <p:cNvPr id="4" name="Marcador de contenido 3">
            <a:extLst>
              <a:ext uri="{FF2B5EF4-FFF2-40B4-BE49-F238E27FC236}">
                <a16:creationId xmlns:a16="http://schemas.microsoft.com/office/drawing/2014/main" id="{437FBC33-E124-4332-6829-5ED0A4B58D67}"/>
              </a:ext>
            </a:extLst>
          </p:cNvPr>
          <p:cNvSpPr>
            <a:spLocks noGrp="1"/>
          </p:cNvSpPr>
          <p:nvPr>
            <p:ph sz="half" idx="2"/>
          </p:nvPr>
        </p:nvSpPr>
        <p:spPr>
          <a:xfrm>
            <a:off x="6172200" y="1631130"/>
            <a:ext cx="5181600" cy="4545833"/>
          </a:xfrm>
        </p:spPr>
        <p:txBody>
          <a:bodyPr>
            <a:normAutofit fontScale="92500" lnSpcReduction="10000"/>
          </a:bodyPr>
          <a:lstStyle/>
          <a:p>
            <a:r>
              <a:rPr lang="es-MX" dirty="0"/>
              <a:t>Principio de Responsabilidad Única: Separa la creación del objeto de la lógica de negocio del objeto.</a:t>
            </a:r>
          </a:p>
          <a:p>
            <a:r>
              <a:rPr lang="es-MX" dirty="0"/>
              <a:t>Programar para interfaces: El Director no se encuentra acoplado a un constructor en especifico (Bajo Acoplamiento) </a:t>
            </a:r>
          </a:p>
          <a:p>
            <a:r>
              <a:rPr lang="es-MX" dirty="0"/>
              <a:t>Encapsular lo que varia: La interfaz permite al constructor ocultar la representación y la estructura interna del producto.</a:t>
            </a:r>
          </a:p>
          <a:p>
            <a:endParaRPr lang="es-MX" dirty="0"/>
          </a:p>
        </p:txBody>
      </p:sp>
      <p:sp>
        <p:nvSpPr>
          <p:cNvPr id="5" name="CuadroTexto 4">
            <a:extLst>
              <a:ext uri="{FF2B5EF4-FFF2-40B4-BE49-F238E27FC236}">
                <a16:creationId xmlns:a16="http://schemas.microsoft.com/office/drawing/2014/main" id="{6719E689-20F3-1EB5-4BBB-D8FBAAFCC87F}"/>
              </a:ext>
            </a:extLst>
          </p:cNvPr>
          <p:cNvSpPr txBox="1"/>
          <p:nvPr/>
        </p:nvSpPr>
        <p:spPr>
          <a:xfrm>
            <a:off x="988142" y="5807631"/>
            <a:ext cx="2268570" cy="369332"/>
          </a:xfrm>
          <a:prstGeom prst="rect">
            <a:avLst/>
          </a:prstGeom>
          <a:noFill/>
        </p:spPr>
        <p:txBody>
          <a:bodyPr wrap="none" rtlCol="0">
            <a:spAutoFit/>
          </a:bodyPr>
          <a:lstStyle/>
          <a:p>
            <a:r>
              <a:rPr lang="es-MX" dirty="0">
                <a:solidFill>
                  <a:schemeClr val="tx1">
                    <a:lumMod val="75000"/>
                    <a:lumOff val="25000"/>
                  </a:schemeClr>
                </a:solidFill>
              </a:rPr>
              <a:t>(Gamma et al., 1994)</a:t>
            </a:r>
            <a:endParaRPr lang="es-MX" dirty="0"/>
          </a:p>
        </p:txBody>
      </p:sp>
      <p:sp>
        <p:nvSpPr>
          <p:cNvPr id="6" name="Título 1">
            <a:extLst>
              <a:ext uri="{FF2B5EF4-FFF2-40B4-BE49-F238E27FC236}">
                <a16:creationId xmlns:a16="http://schemas.microsoft.com/office/drawing/2014/main" id="{FEA86059-3156-30FE-DD36-901BD143303C}"/>
              </a:ext>
            </a:extLst>
          </p:cNvPr>
          <p:cNvSpPr txBox="1">
            <a:spLocks/>
          </p:cNvSpPr>
          <p:nvPr/>
        </p:nvSpPr>
        <p:spPr>
          <a:xfrm>
            <a:off x="6110636" y="668900"/>
            <a:ext cx="5304727" cy="9622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dirty="0"/>
              <a:t>Principios de Diseño</a:t>
            </a:r>
          </a:p>
        </p:txBody>
      </p:sp>
    </p:spTree>
    <p:extLst>
      <p:ext uri="{BB962C8B-B14F-4D97-AF65-F5344CB8AC3E}">
        <p14:creationId xmlns:p14="http://schemas.microsoft.com/office/powerpoint/2010/main" val="907595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955B505D-E702-303C-FD73-E8E172899EA6}"/>
              </a:ext>
            </a:extLst>
          </p:cNvPr>
          <p:cNvSpPr>
            <a:spLocks noGrp="1"/>
          </p:cNvSpPr>
          <p:nvPr>
            <p:ph type="title"/>
          </p:nvPr>
        </p:nvSpPr>
        <p:spPr>
          <a:xfrm>
            <a:off x="838200" y="365126"/>
            <a:ext cx="10515600" cy="917984"/>
          </a:xfrm>
        </p:spPr>
        <p:txBody>
          <a:bodyPr/>
          <a:lstStyle/>
          <a:p>
            <a:r>
              <a:rPr lang="es-MX" dirty="0"/>
              <a:t>Participantes y Responsabilidades</a:t>
            </a:r>
          </a:p>
        </p:txBody>
      </p:sp>
      <p:sp>
        <p:nvSpPr>
          <p:cNvPr id="6" name="Marcador de contenido 5">
            <a:extLst>
              <a:ext uri="{FF2B5EF4-FFF2-40B4-BE49-F238E27FC236}">
                <a16:creationId xmlns:a16="http://schemas.microsoft.com/office/drawing/2014/main" id="{FE72DFD3-BD9A-CF3A-C53B-8111034CCA2D}"/>
              </a:ext>
            </a:extLst>
          </p:cNvPr>
          <p:cNvSpPr>
            <a:spLocks noGrp="1"/>
          </p:cNvSpPr>
          <p:nvPr>
            <p:ph idx="1"/>
          </p:nvPr>
        </p:nvSpPr>
        <p:spPr>
          <a:xfrm>
            <a:off x="838200" y="1283110"/>
            <a:ext cx="10515600" cy="4893853"/>
          </a:xfrm>
        </p:spPr>
        <p:txBody>
          <a:bodyPr/>
          <a:lstStyle/>
          <a:p>
            <a:r>
              <a:rPr lang="es-MX" dirty="0"/>
              <a:t>Cliente: Crea al director y a sus métodos.</a:t>
            </a:r>
          </a:p>
          <a:p>
            <a:r>
              <a:rPr lang="es-MX" dirty="0"/>
              <a:t>Director: Construye un objeto utilizando la interfaz </a:t>
            </a:r>
            <a:r>
              <a:rPr lang="es-MX" dirty="0" err="1"/>
              <a:t>Builder</a:t>
            </a:r>
            <a:r>
              <a:rPr lang="es-MX" dirty="0"/>
              <a:t>.</a:t>
            </a:r>
          </a:p>
          <a:p>
            <a:r>
              <a:rPr lang="es-MX" dirty="0"/>
              <a:t>Interfaz </a:t>
            </a:r>
            <a:r>
              <a:rPr lang="es-MX" dirty="0" err="1"/>
              <a:t>Builder</a:t>
            </a:r>
            <a:r>
              <a:rPr lang="es-MX" dirty="0"/>
              <a:t>: Especifica una interfaz abstracta para crear las partes de un objeto </a:t>
            </a:r>
            <a:r>
              <a:rPr lang="es-MX" dirty="0" err="1"/>
              <a:t>Product</a:t>
            </a:r>
            <a:endParaRPr lang="es-MX" dirty="0"/>
          </a:p>
          <a:p>
            <a:r>
              <a:rPr lang="es-MX" dirty="0" err="1"/>
              <a:t>Builder</a:t>
            </a:r>
            <a:r>
              <a:rPr lang="es-MX" dirty="0"/>
              <a:t> Concreto: Construye y ensambla las partes del producto mediante la implementación de la interfaz </a:t>
            </a:r>
            <a:r>
              <a:rPr lang="es-MX" dirty="0" err="1"/>
              <a:t>Builder</a:t>
            </a:r>
            <a:r>
              <a:rPr lang="es-MX" dirty="0"/>
              <a:t>. Define y mantiene el rastro de la representación que crea.</a:t>
            </a:r>
          </a:p>
          <a:p>
            <a:r>
              <a:rPr lang="es-MX" dirty="0"/>
              <a:t>Producto: Representa el objeto complejo bajo construcción. El </a:t>
            </a:r>
            <a:r>
              <a:rPr lang="es-MX" dirty="0" err="1"/>
              <a:t>ConcreteBuilder</a:t>
            </a:r>
            <a:r>
              <a:rPr lang="es-MX" dirty="0"/>
              <a:t> construye la representación interna del producto y define el proceso mediante el cual se ensambla.</a:t>
            </a:r>
          </a:p>
        </p:txBody>
      </p:sp>
      <p:sp>
        <p:nvSpPr>
          <p:cNvPr id="7" name="CuadroTexto 6">
            <a:extLst>
              <a:ext uri="{FF2B5EF4-FFF2-40B4-BE49-F238E27FC236}">
                <a16:creationId xmlns:a16="http://schemas.microsoft.com/office/drawing/2014/main" id="{FA2932BE-FCDF-8028-6D98-16CCF23A40D6}"/>
              </a:ext>
            </a:extLst>
          </p:cNvPr>
          <p:cNvSpPr txBox="1"/>
          <p:nvPr/>
        </p:nvSpPr>
        <p:spPr>
          <a:xfrm>
            <a:off x="1091380" y="5807631"/>
            <a:ext cx="2268570" cy="369332"/>
          </a:xfrm>
          <a:prstGeom prst="rect">
            <a:avLst/>
          </a:prstGeom>
          <a:noFill/>
        </p:spPr>
        <p:txBody>
          <a:bodyPr wrap="none" rtlCol="0">
            <a:spAutoFit/>
          </a:bodyPr>
          <a:lstStyle/>
          <a:p>
            <a:r>
              <a:rPr lang="es-MX" dirty="0">
                <a:solidFill>
                  <a:schemeClr val="tx1">
                    <a:lumMod val="75000"/>
                    <a:lumOff val="25000"/>
                  </a:schemeClr>
                </a:solidFill>
              </a:rPr>
              <a:t>(Gamma et al., 1994)</a:t>
            </a:r>
            <a:endParaRPr lang="es-MX" dirty="0"/>
          </a:p>
        </p:txBody>
      </p:sp>
    </p:spTree>
    <p:extLst>
      <p:ext uri="{BB962C8B-B14F-4D97-AF65-F5344CB8AC3E}">
        <p14:creationId xmlns:p14="http://schemas.microsoft.com/office/powerpoint/2010/main" val="2557939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C314DF57-B9A1-0BB0-23DC-C8D06B52FD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6194" y="0"/>
            <a:ext cx="7017650" cy="6506562"/>
          </a:xfrm>
          <a:prstGeom prst="rect">
            <a:avLst/>
          </a:prstGeom>
        </p:spPr>
      </p:pic>
      <p:sp>
        <p:nvSpPr>
          <p:cNvPr id="8" name="CuadroTexto 7">
            <a:extLst>
              <a:ext uri="{FF2B5EF4-FFF2-40B4-BE49-F238E27FC236}">
                <a16:creationId xmlns:a16="http://schemas.microsoft.com/office/drawing/2014/main" id="{EF8EE601-51BD-DD93-AAD8-79494A238386}"/>
              </a:ext>
            </a:extLst>
          </p:cNvPr>
          <p:cNvSpPr txBox="1"/>
          <p:nvPr/>
        </p:nvSpPr>
        <p:spPr>
          <a:xfrm>
            <a:off x="339213" y="589934"/>
            <a:ext cx="3628103" cy="1569660"/>
          </a:xfrm>
          <a:prstGeom prst="rect">
            <a:avLst/>
          </a:prstGeom>
          <a:noFill/>
        </p:spPr>
        <p:txBody>
          <a:bodyPr wrap="square" rtlCol="0">
            <a:spAutoFit/>
          </a:bodyPr>
          <a:lstStyle/>
          <a:p>
            <a:r>
              <a:rPr lang="es-MX" sz="4800" dirty="0"/>
              <a:t>Diagrama de Clases</a:t>
            </a:r>
          </a:p>
        </p:txBody>
      </p:sp>
      <p:sp>
        <p:nvSpPr>
          <p:cNvPr id="9" name="CuadroTexto 8">
            <a:extLst>
              <a:ext uri="{FF2B5EF4-FFF2-40B4-BE49-F238E27FC236}">
                <a16:creationId xmlns:a16="http://schemas.microsoft.com/office/drawing/2014/main" id="{4E795606-6582-D59E-FF51-FA316167061C}"/>
              </a:ext>
            </a:extLst>
          </p:cNvPr>
          <p:cNvSpPr txBox="1"/>
          <p:nvPr/>
        </p:nvSpPr>
        <p:spPr>
          <a:xfrm>
            <a:off x="339213" y="2159594"/>
            <a:ext cx="2831690" cy="646331"/>
          </a:xfrm>
          <a:prstGeom prst="rect">
            <a:avLst/>
          </a:prstGeom>
          <a:noFill/>
        </p:spPr>
        <p:txBody>
          <a:bodyPr wrap="square" rtlCol="0">
            <a:spAutoFit/>
          </a:bodyPr>
          <a:lstStyle/>
          <a:p>
            <a:r>
              <a:rPr lang="es-MX" dirty="0">
                <a:solidFill>
                  <a:schemeClr val="tx1">
                    <a:lumMod val="65000"/>
                    <a:lumOff val="35000"/>
                  </a:schemeClr>
                </a:solidFill>
              </a:rPr>
              <a:t>Extraído y Adaptado de </a:t>
            </a:r>
            <a:r>
              <a:rPr lang="es-MX" dirty="0" err="1">
                <a:solidFill>
                  <a:schemeClr val="tx1">
                    <a:lumMod val="65000"/>
                    <a:lumOff val="35000"/>
                  </a:schemeClr>
                </a:solidFill>
              </a:rPr>
              <a:t>Refactoring.Guru</a:t>
            </a:r>
            <a:r>
              <a:rPr lang="es-MX" dirty="0">
                <a:solidFill>
                  <a:schemeClr val="tx1">
                    <a:lumMod val="65000"/>
                    <a:lumOff val="35000"/>
                  </a:schemeClr>
                </a:solidFill>
              </a:rPr>
              <a:t>, 2026</a:t>
            </a:r>
          </a:p>
        </p:txBody>
      </p:sp>
    </p:spTree>
    <p:extLst>
      <p:ext uri="{BB962C8B-B14F-4D97-AF65-F5344CB8AC3E}">
        <p14:creationId xmlns:p14="http://schemas.microsoft.com/office/powerpoint/2010/main" val="1305975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322DD-D0CB-24A0-FDAE-2B3B194691EE}"/>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09B38CC2-5326-5CB9-4B3F-344181AC61DE}"/>
              </a:ext>
            </a:extLst>
          </p:cNvPr>
          <p:cNvSpPr>
            <a:spLocks noGrp="1"/>
          </p:cNvSpPr>
          <p:nvPr>
            <p:ph type="title"/>
          </p:nvPr>
        </p:nvSpPr>
        <p:spPr>
          <a:xfrm>
            <a:off x="838200" y="365126"/>
            <a:ext cx="10515600" cy="917984"/>
          </a:xfrm>
        </p:spPr>
        <p:txBody>
          <a:bodyPr/>
          <a:lstStyle/>
          <a:p>
            <a:r>
              <a:rPr lang="es-MX" dirty="0"/>
              <a:t>Relaciones entre los Participantes</a:t>
            </a:r>
          </a:p>
        </p:txBody>
      </p:sp>
      <p:sp>
        <p:nvSpPr>
          <p:cNvPr id="6" name="Marcador de contenido 5">
            <a:extLst>
              <a:ext uri="{FF2B5EF4-FFF2-40B4-BE49-F238E27FC236}">
                <a16:creationId xmlns:a16="http://schemas.microsoft.com/office/drawing/2014/main" id="{B3823A3F-6D4C-0142-C9EC-01E9AC7491F6}"/>
              </a:ext>
            </a:extLst>
          </p:cNvPr>
          <p:cNvSpPr>
            <a:spLocks noGrp="1"/>
          </p:cNvSpPr>
          <p:nvPr>
            <p:ph idx="1"/>
          </p:nvPr>
        </p:nvSpPr>
        <p:spPr>
          <a:xfrm>
            <a:off x="838200" y="1283110"/>
            <a:ext cx="10515600" cy="4893853"/>
          </a:xfrm>
        </p:spPr>
        <p:txBody>
          <a:bodyPr/>
          <a:lstStyle/>
          <a:p>
            <a:r>
              <a:rPr lang="es-MX" dirty="0"/>
              <a:t>El cliente crea el objeto Director y lo configura con el objeto </a:t>
            </a:r>
            <a:r>
              <a:rPr lang="es-MX" dirty="0" err="1"/>
              <a:t>Builder</a:t>
            </a:r>
            <a:r>
              <a:rPr lang="es-MX" dirty="0"/>
              <a:t> deseado.</a:t>
            </a:r>
          </a:p>
          <a:p>
            <a:r>
              <a:rPr lang="es-MX" dirty="0"/>
              <a:t>El Director notifica al constructor (</a:t>
            </a:r>
            <a:r>
              <a:rPr lang="es-MX" dirty="0" err="1"/>
              <a:t>builder</a:t>
            </a:r>
            <a:r>
              <a:rPr lang="es-MX" dirty="0"/>
              <a:t>) cada vez que se debe construir una parte del producto.</a:t>
            </a:r>
          </a:p>
          <a:p>
            <a:r>
              <a:rPr lang="es-MX" dirty="0"/>
              <a:t>El </a:t>
            </a:r>
            <a:r>
              <a:rPr lang="es-MX" dirty="0" err="1"/>
              <a:t>Builder</a:t>
            </a:r>
            <a:r>
              <a:rPr lang="es-MX" dirty="0"/>
              <a:t> maneja las solicitudes del director y añade las partes al producto.</a:t>
            </a:r>
          </a:p>
          <a:p>
            <a:r>
              <a:rPr lang="es-MX" dirty="0"/>
              <a:t>El cliente recupera el producto desde el constructor (</a:t>
            </a:r>
            <a:r>
              <a:rPr lang="es-MX" dirty="0" err="1"/>
              <a:t>builder</a:t>
            </a:r>
            <a:r>
              <a:rPr lang="es-MX" dirty="0"/>
              <a:t>).</a:t>
            </a:r>
          </a:p>
          <a:p>
            <a:pPr marL="0" indent="0">
              <a:buNone/>
            </a:pPr>
            <a:endParaRPr lang="es-MX" dirty="0"/>
          </a:p>
        </p:txBody>
      </p:sp>
      <p:sp>
        <p:nvSpPr>
          <p:cNvPr id="2" name="CuadroTexto 1">
            <a:extLst>
              <a:ext uri="{FF2B5EF4-FFF2-40B4-BE49-F238E27FC236}">
                <a16:creationId xmlns:a16="http://schemas.microsoft.com/office/drawing/2014/main" id="{F3184F16-269B-A507-19A4-D4B3A0F154E5}"/>
              </a:ext>
            </a:extLst>
          </p:cNvPr>
          <p:cNvSpPr txBox="1"/>
          <p:nvPr/>
        </p:nvSpPr>
        <p:spPr>
          <a:xfrm>
            <a:off x="1091380" y="5807631"/>
            <a:ext cx="2268570" cy="369332"/>
          </a:xfrm>
          <a:prstGeom prst="rect">
            <a:avLst/>
          </a:prstGeom>
          <a:noFill/>
        </p:spPr>
        <p:txBody>
          <a:bodyPr wrap="none" rtlCol="0">
            <a:spAutoFit/>
          </a:bodyPr>
          <a:lstStyle/>
          <a:p>
            <a:r>
              <a:rPr lang="es-MX" dirty="0">
                <a:solidFill>
                  <a:schemeClr val="tx1">
                    <a:lumMod val="75000"/>
                    <a:lumOff val="25000"/>
                  </a:schemeClr>
                </a:solidFill>
              </a:rPr>
              <a:t>(Gamma et al., 1994)</a:t>
            </a:r>
            <a:endParaRPr lang="es-MX" dirty="0"/>
          </a:p>
        </p:txBody>
      </p:sp>
    </p:spTree>
    <p:extLst>
      <p:ext uri="{BB962C8B-B14F-4D97-AF65-F5344CB8AC3E}">
        <p14:creationId xmlns:p14="http://schemas.microsoft.com/office/powerpoint/2010/main" val="423583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450F982-D539-4D67-2903-81BECDFB09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9265" y="0"/>
            <a:ext cx="6570659" cy="6499922"/>
          </a:xfrm>
          <a:prstGeom prst="rect">
            <a:avLst/>
          </a:prstGeom>
        </p:spPr>
      </p:pic>
      <p:sp>
        <p:nvSpPr>
          <p:cNvPr id="6" name="CuadroTexto 5">
            <a:extLst>
              <a:ext uri="{FF2B5EF4-FFF2-40B4-BE49-F238E27FC236}">
                <a16:creationId xmlns:a16="http://schemas.microsoft.com/office/drawing/2014/main" id="{B738EF7F-6D33-0122-CDD8-0B40283B6769}"/>
              </a:ext>
            </a:extLst>
          </p:cNvPr>
          <p:cNvSpPr txBox="1"/>
          <p:nvPr/>
        </p:nvSpPr>
        <p:spPr>
          <a:xfrm>
            <a:off x="339213" y="589934"/>
            <a:ext cx="3628103" cy="1569660"/>
          </a:xfrm>
          <a:prstGeom prst="rect">
            <a:avLst/>
          </a:prstGeom>
          <a:noFill/>
        </p:spPr>
        <p:txBody>
          <a:bodyPr wrap="square" rtlCol="0">
            <a:spAutoFit/>
          </a:bodyPr>
          <a:lstStyle/>
          <a:p>
            <a:r>
              <a:rPr lang="es-MX" sz="4800" dirty="0"/>
              <a:t>Diagrama de Secuencia</a:t>
            </a:r>
          </a:p>
        </p:txBody>
      </p:sp>
      <p:sp>
        <p:nvSpPr>
          <p:cNvPr id="7" name="CuadroTexto 6">
            <a:extLst>
              <a:ext uri="{FF2B5EF4-FFF2-40B4-BE49-F238E27FC236}">
                <a16:creationId xmlns:a16="http://schemas.microsoft.com/office/drawing/2014/main" id="{F5612F76-FFB7-614B-70C8-8397FFA52AFB}"/>
              </a:ext>
            </a:extLst>
          </p:cNvPr>
          <p:cNvSpPr txBox="1"/>
          <p:nvPr/>
        </p:nvSpPr>
        <p:spPr>
          <a:xfrm>
            <a:off x="412955" y="2271252"/>
            <a:ext cx="3790335" cy="1477328"/>
          </a:xfrm>
          <a:prstGeom prst="rect">
            <a:avLst/>
          </a:prstGeom>
          <a:noFill/>
        </p:spPr>
        <p:txBody>
          <a:bodyPr wrap="square" rtlCol="0">
            <a:spAutoFit/>
          </a:bodyPr>
          <a:lstStyle/>
          <a:p>
            <a:r>
              <a:rPr lang="es-MX" dirty="0">
                <a:solidFill>
                  <a:schemeClr val="tx1">
                    <a:lumMod val="65000"/>
                    <a:lumOff val="35000"/>
                  </a:schemeClr>
                </a:solidFill>
              </a:rPr>
              <a:t>Diagrama de secuencia adaptado de Shvets (2026) y basado en la estructura conceptual de los participantes de Gamma et al. (1994)</a:t>
            </a:r>
          </a:p>
        </p:txBody>
      </p:sp>
    </p:spTree>
    <p:extLst>
      <p:ext uri="{BB962C8B-B14F-4D97-AF65-F5344CB8AC3E}">
        <p14:creationId xmlns:p14="http://schemas.microsoft.com/office/powerpoint/2010/main" val="2561769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Marcador de contenido 3">
            <a:extLst>
              <a:ext uri="{FF2B5EF4-FFF2-40B4-BE49-F238E27FC236}">
                <a16:creationId xmlns:a16="http://schemas.microsoft.com/office/drawing/2014/main" id="{F3C5FE53-3416-7C9B-7976-EC075B142F45}"/>
              </a:ext>
            </a:extLst>
          </p:cNvPr>
          <p:cNvGraphicFramePr>
            <a:graphicFrameLocks/>
          </p:cNvGraphicFramePr>
          <p:nvPr>
            <p:extLst>
              <p:ext uri="{D42A27DB-BD31-4B8C-83A1-F6EECF244321}">
                <p14:modId xmlns:p14="http://schemas.microsoft.com/office/powerpoint/2010/main" val="2622376570"/>
              </p:ext>
            </p:extLst>
          </p:nvPr>
        </p:nvGraphicFramePr>
        <p:xfrm>
          <a:off x="836732" y="852155"/>
          <a:ext cx="10518536" cy="4267200"/>
        </p:xfrm>
        <a:graphic>
          <a:graphicData uri="http://schemas.openxmlformats.org/drawingml/2006/table">
            <a:tbl>
              <a:tblPr/>
              <a:tblGrid>
                <a:gridCol w="5259268">
                  <a:extLst>
                    <a:ext uri="{9D8B030D-6E8A-4147-A177-3AD203B41FA5}">
                      <a16:colId xmlns:a16="http://schemas.microsoft.com/office/drawing/2014/main" val="20000"/>
                    </a:ext>
                  </a:extLst>
                </a:gridCol>
                <a:gridCol w="5259268">
                  <a:extLst>
                    <a:ext uri="{9D8B030D-6E8A-4147-A177-3AD203B41FA5}">
                      <a16:colId xmlns:a16="http://schemas.microsoft.com/office/drawing/2014/main" val="20001"/>
                    </a:ext>
                  </a:extLst>
                </a:gridCol>
              </a:tblGrid>
              <a:tr h="370840">
                <a:tc>
                  <a:txBody>
                    <a:bodyPr/>
                    <a:lstStyle/>
                    <a:p>
                      <a:pPr algn="ctr"/>
                      <a:r>
                        <a:rPr lang="es-MX" sz="2800" strike="noStrike" dirty="0"/>
                        <a:t>VENTAJAS</a:t>
                      </a:r>
                      <a:endParaRPr sz="2800" dirty="0"/>
                    </a:p>
                  </a:txBody>
                  <a:tcPr>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r>
                        <a:rPr lang="es-MX" sz="2800" strike="noStrike"/>
                        <a:t>DESVENTAJAS</a:t>
                      </a:r>
                      <a:endParaRPr sz="2800"/>
                    </a:p>
                  </a:txBody>
                  <a:tcPr>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extLst>
                  <a:ext uri="{0D108BD9-81ED-4DB2-BD59-A6C34878D82A}">
                    <a16:rowId xmlns:a16="http://schemas.microsoft.com/office/drawing/2014/main" val="10000"/>
                  </a:ext>
                </a:extLst>
              </a:tr>
              <a:tr h="370840">
                <a:tc>
                  <a:txBody>
                    <a:bodyPr/>
                    <a:lstStyle/>
                    <a:p>
                      <a:pPr marL="336550" lvl="0" indent="-285749">
                        <a:buSzPct val="100000"/>
                        <a:buFont typeface="Arial"/>
                        <a:buChar char="•"/>
                      </a:pPr>
                      <a:r>
                        <a:rPr lang="es-MX" sz="2400" strike="noStrike" dirty="0"/>
                        <a:t>Se puede reutilizar el código para construir varias representaciones de productos</a:t>
                      </a:r>
                      <a:r>
                        <a:rPr lang="es-ES" sz="2400" strike="noStrike" dirty="0"/>
                        <a:t>, favoreciendo composición sobre herencia (ya que no creamos más subclases)</a:t>
                      </a:r>
                      <a:endParaRPr sz="2400" dirty="0"/>
                    </a:p>
                    <a:p>
                      <a:pPr marL="336550" lvl="0" indent="-285749">
                        <a:buSzPct val="100000"/>
                        <a:buFont typeface="Arial"/>
                        <a:buChar char="•"/>
                      </a:pPr>
                      <a:r>
                        <a:rPr lang="es-MX" sz="2400" strike="noStrike" dirty="0"/>
                        <a:t>Puedes gestionar objetos durante su creación</a:t>
                      </a:r>
                      <a:endParaRPr sz="2400" dirty="0"/>
                    </a:p>
                    <a:p>
                      <a:pPr marL="336550" lvl="0" indent="-285749">
                        <a:buSzPct val="100000"/>
                        <a:buFont typeface="Arial"/>
                        <a:buChar char="•"/>
                      </a:pPr>
                      <a:r>
                        <a:rPr lang="es-MX" sz="2400" strike="noStrike" dirty="0"/>
                        <a:t>Aisla código complejo de la lógica de negocio, respetando el Principio de Responsabilidad Única.</a:t>
                      </a:r>
                      <a:endParaRPr sz="2400" dirty="0"/>
                    </a:p>
                  </a:txBody>
                  <a:tcPr>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marL="336550" lvl="0" indent="-285749">
                        <a:buSzPct val="100000"/>
                        <a:buFont typeface="Arial"/>
                        <a:buChar char="•"/>
                      </a:pPr>
                      <a:r>
                        <a:rPr lang="es-MX" sz="2400" strike="noStrike" dirty="0"/>
                        <a:t>Aumento en la Complejidad del código</a:t>
                      </a:r>
                      <a:endParaRPr sz="2400" dirty="0"/>
                    </a:p>
                    <a:p>
                      <a:pPr marL="336550" lvl="0" indent="-285749">
                        <a:buSzPct val="100000"/>
                        <a:buFont typeface="Arial"/>
                        <a:buChar char="•"/>
                      </a:pPr>
                      <a:r>
                        <a:rPr lang="es-ES" sz="2400" strike="noStrike" dirty="0"/>
                        <a:t>Dificultad de lectura del código</a:t>
                      </a:r>
                      <a:endParaRPr sz="2400" dirty="0"/>
                    </a:p>
                    <a:p>
                      <a:pPr marL="285750" indent="-285749"/>
                      <a:endParaRPr sz="2400" dirty="0"/>
                    </a:p>
                  </a:txBody>
                  <a:tcPr>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extLst>
                  <a:ext uri="{0D108BD9-81ED-4DB2-BD59-A6C34878D82A}">
                    <a16:rowId xmlns:a16="http://schemas.microsoft.com/office/drawing/2014/main" val="10001"/>
                  </a:ext>
                </a:extLst>
              </a:tr>
            </a:tbl>
          </a:graphicData>
        </a:graphic>
      </p:graphicFrame>
      <p:sp>
        <p:nvSpPr>
          <p:cNvPr id="3" name="CuadroTexto 2">
            <a:extLst>
              <a:ext uri="{FF2B5EF4-FFF2-40B4-BE49-F238E27FC236}">
                <a16:creationId xmlns:a16="http://schemas.microsoft.com/office/drawing/2014/main" id="{819CECC5-1B2C-4546-CFEB-3E1027E59518}"/>
              </a:ext>
            </a:extLst>
          </p:cNvPr>
          <p:cNvSpPr txBox="1"/>
          <p:nvPr/>
        </p:nvSpPr>
        <p:spPr>
          <a:xfrm>
            <a:off x="836732" y="5268426"/>
            <a:ext cx="6098458" cy="369332"/>
          </a:xfrm>
          <a:prstGeom prst="rect">
            <a:avLst/>
          </a:prstGeom>
          <a:noFill/>
        </p:spPr>
        <p:txBody>
          <a:bodyPr wrap="square">
            <a:spAutoFit/>
          </a:bodyPr>
          <a:lstStyle/>
          <a:p>
            <a:pPr>
              <a:defRPr/>
            </a:pPr>
            <a:r>
              <a:rPr lang="es-MX" dirty="0">
                <a:solidFill>
                  <a:schemeClr val="tx1">
                    <a:lumMod val="65000"/>
                    <a:lumOff val="35000"/>
                  </a:schemeClr>
                </a:solidFill>
              </a:rPr>
              <a:t>(</a:t>
            </a:r>
            <a:r>
              <a:rPr lang="es-MX" dirty="0" err="1">
                <a:solidFill>
                  <a:schemeClr val="tx1">
                    <a:lumMod val="65000"/>
                    <a:lumOff val="35000"/>
                  </a:schemeClr>
                </a:solidFill>
              </a:rPr>
              <a:t>Refactoring.Guru</a:t>
            </a:r>
            <a:r>
              <a:rPr lang="es-MX" dirty="0">
                <a:solidFill>
                  <a:schemeClr val="tx1">
                    <a:lumMod val="65000"/>
                    <a:lumOff val="35000"/>
                  </a:schemeClr>
                </a:solidFill>
              </a:rPr>
              <a:t>, 2026)</a:t>
            </a:r>
          </a:p>
        </p:txBody>
      </p:sp>
    </p:spTree>
    <p:extLst>
      <p:ext uri="{BB962C8B-B14F-4D97-AF65-F5344CB8AC3E}">
        <p14:creationId xmlns:p14="http://schemas.microsoft.com/office/powerpoint/2010/main" val="2297442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D73019-9C94-24DD-218C-0D3E68CBDD25}"/>
              </a:ext>
            </a:extLst>
          </p:cNvPr>
          <p:cNvSpPr>
            <a:spLocks noGrp="1"/>
          </p:cNvSpPr>
          <p:nvPr>
            <p:ph type="title"/>
          </p:nvPr>
        </p:nvSpPr>
        <p:spPr/>
        <p:txBody>
          <a:bodyPr/>
          <a:lstStyle/>
          <a:p>
            <a:r>
              <a:rPr lang="es-MX" dirty="0"/>
              <a:t>Usos Conocidos</a:t>
            </a:r>
          </a:p>
        </p:txBody>
      </p:sp>
      <p:sp>
        <p:nvSpPr>
          <p:cNvPr id="3" name="Marcador de contenido 2">
            <a:extLst>
              <a:ext uri="{FF2B5EF4-FFF2-40B4-BE49-F238E27FC236}">
                <a16:creationId xmlns:a16="http://schemas.microsoft.com/office/drawing/2014/main" id="{3451EE20-1A6B-3B9D-2031-FECE88EFCF51}"/>
              </a:ext>
            </a:extLst>
          </p:cNvPr>
          <p:cNvSpPr>
            <a:spLocks noGrp="1"/>
          </p:cNvSpPr>
          <p:nvPr>
            <p:ph idx="1"/>
          </p:nvPr>
        </p:nvSpPr>
        <p:spPr>
          <a:xfrm>
            <a:off x="838200" y="1840373"/>
            <a:ext cx="10515600" cy="4351338"/>
          </a:xfrm>
        </p:spPr>
        <p:txBody>
          <a:bodyPr/>
          <a:lstStyle/>
          <a:p>
            <a:r>
              <a:rPr lang="es-MX" dirty="0"/>
              <a:t>Implementación de DTO (Data Transfer </a:t>
            </a:r>
            <a:r>
              <a:rPr lang="es-MX" dirty="0" err="1"/>
              <a:t>Object</a:t>
            </a:r>
            <a:r>
              <a:rPr lang="es-MX" dirty="0"/>
              <a:t>)</a:t>
            </a:r>
          </a:p>
          <a:p>
            <a:r>
              <a:rPr lang="es-MX" dirty="0"/>
              <a:t>Configuración de Perfil para creación gradual y personalizada del usuario</a:t>
            </a:r>
          </a:p>
          <a:p>
            <a:r>
              <a:rPr lang="es-MX" dirty="0"/>
              <a:t>Generación de Reportes y Documentos</a:t>
            </a:r>
          </a:p>
          <a:p>
            <a:r>
              <a:rPr lang="es-MX" dirty="0"/>
              <a:t>Creación de Pruebas unitarias</a:t>
            </a:r>
          </a:p>
          <a:p>
            <a:endParaRPr lang="es-MX" dirty="0"/>
          </a:p>
          <a:p>
            <a:endParaRPr lang="es-MX" dirty="0"/>
          </a:p>
          <a:p>
            <a:endParaRPr lang="es-MX" dirty="0"/>
          </a:p>
        </p:txBody>
      </p:sp>
    </p:spTree>
    <p:extLst>
      <p:ext uri="{BB962C8B-B14F-4D97-AF65-F5344CB8AC3E}">
        <p14:creationId xmlns:p14="http://schemas.microsoft.com/office/powerpoint/2010/main" val="1536190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noGroup"/>
        <p:cNvGrpSpPr/>
        <p:nvPr/>
      </p:nvGrpSpPr>
      <p:grpSpPr>
        <a:xfrm>
          <a:off x="0" y="0"/>
          <a:ext cx="0" cy="0"/>
          <a:chOff x="0" y="0"/>
          <a:chExt cx="0" cy="0"/>
        </a:xfrm>
      </p:grpSpPr>
      <p:sp>
        <p:nvSpPr>
          <p:cNvPr id="2" name="Título 1"/>
          <p:cNvSpPr txBox="1">
            <a:spLocks noGrp="1"/>
          </p:cNvSpPr>
          <p:nvPr>
            <p:ph type="title" idx="4294967295"/>
          </p:nvPr>
        </p:nvSpPr>
        <p:spPr>
          <a:xfrm>
            <a:off x="838027" y="365017"/>
            <a:ext cx="10514937" cy="1325436"/>
          </a:xfrm>
          <a:prstGeom prst="rect">
            <a:avLst/>
          </a:prstGeom>
          <a:noFill/>
          <a:ln>
            <a:noFill/>
          </a:ln>
          <a:effectLst/>
        </p:spPr>
        <p:txBody>
          <a:bodyPr lIns="91440" tIns="45720" rIns="91440" bIns="45720" anchor="ctr"/>
          <a:lstStyle/>
          <a:p>
            <a:pPr marL="0" marR="0" indent="0" algn="l">
              <a:lnSpc>
                <a:spcPct val="90000"/>
              </a:lnSpc>
              <a:spcBef>
                <a:spcPts val="0"/>
              </a:spcBef>
              <a:spcAft>
                <a:spcPts val="0"/>
              </a:spcAft>
            </a:pPr>
            <a:r>
              <a:rPr lang="es-MX" sz="4400" u="none" spc="0" dirty="0">
                <a:solidFill>
                  <a:srgbClr val="000000"/>
                </a:solidFill>
                <a:latin typeface="Aptos Display"/>
                <a:cs typeface="Aptos Display"/>
              </a:rPr>
              <a:t>PATRONES RELACIONADOS</a:t>
            </a:r>
            <a:endParaRPr dirty="0"/>
          </a:p>
        </p:txBody>
      </p:sp>
      <p:sp>
        <p:nvSpPr>
          <p:cNvPr id="3" name="Marcador de contenido 2"/>
          <p:cNvSpPr txBox="1">
            <a:spLocks noGrp="1"/>
          </p:cNvSpPr>
          <p:nvPr>
            <p:ph idx="4294967295"/>
          </p:nvPr>
        </p:nvSpPr>
        <p:spPr>
          <a:xfrm>
            <a:off x="838027" y="1825804"/>
            <a:ext cx="10514937" cy="4352125"/>
          </a:xfrm>
          <a:prstGeom prst="rect">
            <a:avLst/>
          </a:prstGeom>
          <a:noFill/>
          <a:ln>
            <a:noFill/>
          </a:ln>
          <a:effectLst/>
        </p:spPr>
        <p:txBody>
          <a:bodyPr lIns="91440" tIns="45720" rIns="91440" bIns="45720" anchor="t"/>
          <a:lstStyle/>
          <a:p>
            <a:pPr marL="279400" marR="0" lvl="0" indent="-228599" algn="l">
              <a:lnSpc>
                <a:spcPct val="100000"/>
              </a:lnSpc>
              <a:spcBef>
                <a:spcPts val="1000"/>
              </a:spcBef>
              <a:spcAft>
                <a:spcPts val="0"/>
              </a:spcAft>
              <a:buSzPct val="100000"/>
              <a:buFont typeface="Arial"/>
              <a:buChar char="•"/>
            </a:pPr>
            <a:r>
              <a:rPr lang="es-MX" b="1" u="none" spc="0" dirty="0">
                <a:solidFill>
                  <a:srgbClr val="000000"/>
                </a:solidFill>
                <a:latin typeface="Aptos"/>
                <a:cs typeface="Aptos"/>
              </a:rPr>
              <a:t>Composite</a:t>
            </a:r>
            <a:r>
              <a:rPr lang="es-MX" u="none" spc="0" dirty="0">
                <a:solidFill>
                  <a:srgbClr val="000000"/>
                </a:solidFill>
                <a:latin typeface="Aptos"/>
                <a:cs typeface="Aptos"/>
              </a:rPr>
              <a:t>: Se utiliza para crear arboles complejos para el patrón composite porque los pasos para su construcción se utilizan de forma recursiva.</a:t>
            </a:r>
          </a:p>
          <a:p>
            <a:pPr marL="38101" marR="0" indent="0" algn="l">
              <a:lnSpc>
                <a:spcPct val="150000"/>
              </a:lnSpc>
              <a:spcBef>
                <a:spcPts val="1000"/>
              </a:spcBef>
              <a:spcAft>
                <a:spcPts val="0"/>
              </a:spcAft>
              <a:buNone/>
            </a:pPr>
            <a:endParaRPr dirty="0"/>
          </a:p>
        </p:txBody>
      </p:sp>
      <p:sp>
        <p:nvSpPr>
          <p:cNvPr id="4" name="CuadroTexto 3">
            <a:extLst>
              <a:ext uri="{FF2B5EF4-FFF2-40B4-BE49-F238E27FC236}">
                <a16:creationId xmlns:a16="http://schemas.microsoft.com/office/drawing/2014/main" id="{98D1B832-B903-E93A-A3DA-52940CD88282}"/>
              </a:ext>
            </a:extLst>
          </p:cNvPr>
          <p:cNvSpPr txBox="1"/>
          <p:nvPr/>
        </p:nvSpPr>
        <p:spPr>
          <a:xfrm>
            <a:off x="1120877" y="5808597"/>
            <a:ext cx="2268570" cy="369332"/>
          </a:xfrm>
          <a:prstGeom prst="rect">
            <a:avLst/>
          </a:prstGeom>
          <a:noFill/>
        </p:spPr>
        <p:txBody>
          <a:bodyPr wrap="none" rtlCol="0">
            <a:spAutoFit/>
          </a:bodyPr>
          <a:lstStyle/>
          <a:p>
            <a:r>
              <a:rPr lang="es-MX" dirty="0">
                <a:solidFill>
                  <a:schemeClr val="tx1">
                    <a:lumMod val="75000"/>
                    <a:lumOff val="25000"/>
                  </a:schemeClr>
                </a:solidFill>
              </a:rPr>
              <a:t>(Gamma et al., 1994)</a:t>
            </a:r>
            <a:endParaRPr lang="es-MX"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Marcador de contenido 3">
            <a:extLst>
              <a:ext uri="{FF2B5EF4-FFF2-40B4-BE49-F238E27FC236}">
                <a16:creationId xmlns:a16="http://schemas.microsoft.com/office/drawing/2014/main" id="{4BEA54B1-A622-E02A-FD15-CFB641E30BEA}"/>
              </a:ext>
            </a:extLst>
          </p:cNvPr>
          <p:cNvGraphicFramePr>
            <a:graphicFrameLocks/>
          </p:cNvGraphicFramePr>
          <p:nvPr>
            <p:extLst>
              <p:ext uri="{D42A27DB-BD31-4B8C-83A1-F6EECF244321}">
                <p14:modId xmlns:p14="http://schemas.microsoft.com/office/powerpoint/2010/main" val="2096743247"/>
              </p:ext>
            </p:extLst>
          </p:nvPr>
        </p:nvGraphicFramePr>
        <p:xfrm>
          <a:off x="836227" y="1690453"/>
          <a:ext cx="10518536" cy="3535680"/>
        </p:xfrm>
        <a:graphic>
          <a:graphicData uri="http://schemas.openxmlformats.org/drawingml/2006/table">
            <a:tbl>
              <a:tblPr/>
              <a:tblGrid>
                <a:gridCol w="5259268">
                  <a:extLst>
                    <a:ext uri="{9D8B030D-6E8A-4147-A177-3AD203B41FA5}">
                      <a16:colId xmlns:a16="http://schemas.microsoft.com/office/drawing/2014/main" val="20000"/>
                    </a:ext>
                  </a:extLst>
                </a:gridCol>
                <a:gridCol w="5259268">
                  <a:extLst>
                    <a:ext uri="{9D8B030D-6E8A-4147-A177-3AD203B41FA5}">
                      <a16:colId xmlns:a16="http://schemas.microsoft.com/office/drawing/2014/main" val="20001"/>
                    </a:ext>
                  </a:extLst>
                </a:gridCol>
              </a:tblGrid>
              <a:tr h="370840">
                <a:tc>
                  <a:txBody>
                    <a:bodyPr/>
                    <a:lstStyle/>
                    <a:p>
                      <a:pPr algn="ctr"/>
                      <a:r>
                        <a:rPr lang="es-ES" sz="2800" strike="noStrike" dirty="0"/>
                        <a:t>¿CUÁNDO USARLO?</a:t>
                      </a:r>
                      <a:endParaRPr sz="2800" dirty="0"/>
                    </a:p>
                  </a:txBody>
                  <a:tcPr>
                    <a:lnL w="12698" cmpd="sng">
                      <a:solidFill>
                        <a:srgbClr val="000000"/>
                      </a:solidFill>
                      <a:prstDash val="solid"/>
                    </a:lnL>
                    <a:lnR w="12698" cmpd="sng">
                      <a:solidFill>
                        <a:srgbClr val="000000"/>
                      </a:solidFill>
                      <a:prstDash val="solid"/>
                    </a:lnR>
                    <a:lnT w="12698" cmpd="sng">
                      <a:solidFill>
                        <a:srgbClr val="000000"/>
                      </a:solidFill>
                      <a:prstDash val="solid"/>
                    </a:lnT>
                    <a:lnB w="12698" cmpd="sng">
                      <a:solidFill>
                        <a:srgbClr val="000000"/>
                      </a:solidFill>
                      <a:prstDash val="solid"/>
                    </a:lnB>
                    <a:noFill/>
                  </a:tcPr>
                </a:tc>
                <a:tc>
                  <a:txBody>
                    <a:bodyPr/>
                    <a:lstStyle/>
                    <a:p>
                      <a:pPr algn="ctr"/>
                      <a:r>
                        <a:rPr lang="es-ES" sz="2800" strike="noStrike"/>
                        <a:t>¿CUÁNDO NO?</a:t>
                      </a:r>
                      <a:endParaRPr sz="2800"/>
                    </a:p>
                  </a:txBody>
                  <a:tcPr>
                    <a:lnL w="12698" cmpd="sng">
                      <a:solidFill>
                        <a:srgbClr val="000000"/>
                      </a:solidFill>
                      <a:prstDash val="solid"/>
                    </a:lnL>
                    <a:lnR w="12698" cmpd="sng">
                      <a:solidFill>
                        <a:srgbClr val="000000"/>
                      </a:solidFill>
                      <a:prstDash val="solid"/>
                    </a:lnR>
                    <a:lnT w="12698" cmpd="sng">
                      <a:solidFill>
                        <a:srgbClr val="000000"/>
                      </a:solidFill>
                      <a:prstDash val="solid"/>
                    </a:lnT>
                    <a:lnB w="12698" cmpd="sng">
                      <a:solidFill>
                        <a:srgbClr val="000000"/>
                      </a:solidFill>
                      <a:prstDash val="solid"/>
                    </a:lnB>
                    <a:noFill/>
                  </a:tcPr>
                </a:tc>
                <a:extLst>
                  <a:ext uri="{0D108BD9-81ED-4DB2-BD59-A6C34878D82A}">
                    <a16:rowId xmlns:a16="http://schemas.microsoft.com/office/drawing/2014/main" val="10000"/>
                  </a:ext>
                </a:extLst>
              </a:tr>
              <a:tr h="370840">
                <a:tc>
                  <a:txBody>
                    <a:bodyPr/>
                    <a:lstStyle/>
                    <a:p>
                      <a:pPr marL="336550" lvl="0" indent="-285749">
                        <a:buSzPct val="100000"/>
                        <a:buFont typeface="Arial"/>
                        <a:buChar char="•"/>
                      </a:pPr>
                      <a:r>
                        <a:rPr lang="es-MX" sz="2400" strike="noStrike" dirty="0"/>
                        <a:t>El algoritmo para crear un objeto complejo debe ser independiente de la partes que componen el objeto y cómo se ensamblan.</a:t>
                      </a:r>
                    </a:p>
                    <a:p>
                      <a:pPr marL="336550" lvl="0" indent="-285749">
                        <a:buSzPct val="100000"/>
                        <a:buFont typeface="Arial"/>
                        <a:buChar char="•"/>
                      </a:pPr>
                      <a:r>
                        <a:rPr lang="es-MX" sz="2400" strike="noStrike" dirty="0"/>
                        <a:t>El proceso de construcción debe permitir diferentes representaciones del objeto eso está construido.</a:t>
                      </a:r>
                      <a:endParaRPr sz="2400" dirty="0"/>
                    </a:p>
                  </a:txBody>
                  <a:tcPr>
                    <a:lnL w="12698" cmpd="sng">
                      <a:solidFill>
                        <a:srgbClr val="000000"/>
                      </a:solidFill>
                      <a:prstDash val="solid"/>
                    </a:lnL>
                    <a:lnR w="12698" cmpd="sng">
                      <a:solidFill>
                        <a:srgbClr val="000000"/>
                      </a:solidFill>
                      <a:prstDash val="solid"/>
                    </a:lnR>
                    <a:lnT w="12698" cmpd="sng">
                      <a:solidFill>
                        <a:srgbClr val="000000"/>
                      </a:solidFill>
                      <a:prstDash val="solid"/>
                    </a:lnT>
                    <a:lnB w="12698" cmpd="sng">
                      <a:solidFill>
                        <a:srgbClr val="000000"/>
                      </a:solidFill>
                      <a:prstDash val="solid"/>
                    </a:lnB>
                    <a:noFill/>
                  </a:tcPr>
                </a:tc>
                <a:tc>
                  <a:txBody>
                    <a:bodyPr/>
                    <a:lstStyle/>
                    <a:p>
                      <a:pPr marL="336550" lvl="0" indent="-285749">
                        <a:buSzPct val="100000"/>
                        <a:buFont typeface="Arial"/>
                        <a:buChar char="•"/>
                      </a:pPr>
                      <a:r>
                        <a:rPr lang="es-ES" sz="2400" strike="noStrike" dirty="0"/>
                        <a:t>Cuando el constructor sea pequeño</a:t>
                      </a:r>
                      <a:endParaRPr sz="2400" dirty="0"/>
                    </a:p>
                    <a:p>
                      <a:pPr marL="336550" lvl="0" indent="-285749">
                        <a:buSzPct val="100000"/>
                        <a:buFont typeface="Arial"/>
                        <a:buChar char="•"/>
                      </a:pPr>
                      <a:r>
                        <a:rPr lang="es-ES" sz="2400" strike="noStrike" dirty="0"/>
                        <a:t>Cuando sólo se definan el constructor vacío y el parametrizado</a:t>
                      </a:r>
                      <a:endParaRPr sz="2400" dirty="0"/>
                    </a:p>
                    <a:p>
                      <a:pPr marL="336550" lvl="0" indent="-285749">
                        <a:buSzPct val="100000"/>
                        <a:buFont typeface="Arial"/>
                        <a:buChar char="•"/>
                      </a:pPr>
                      <a:r>
                        <a:rPr lang="es-ES" sz="2400" strike="noStrike" dirty="0"/>
                        <a:t>Si queremos separar atributos sólo para implementar el </a:t>
                      </a:r>
                      <a:r>
                        <a:rPr lang="es-ES" sz="2400" i="1" strike="noStrike" dirty="0" err="1"/>
                        <a:t>Builder</a:t>
                      </a:r>
                      <a:r>
                        <a:rPr lang="es-ES" sz="2400" i="1" strike="noStrike" dirty="0"/>
                        <a:t> </a:t>
                      </a:r>
                      <a:r>
                        <a:rPr lang="es-ES" sz="2400" strike="noStrike" dirty="0"/>
                        <a:t>caeríamos en el </a:t>
                      </a:r>
                      <a:r>
                        <a:rPr lang="es-ES" sz="2400" b="1" strike="noStrike" dirty="0" err="1"/>
                        <a:t>anti-patrón</a:t>
                      </a:r>
                      <a:endParaRPr sz="2400" dirty="0"/>
                    </a:p>
                    <a:p>
                      <a:pPr marL="285750" indent="-285749"/>
                      <a:endParaRPr sz="2400" dirty="0"/>
                    </a:p>
                  </a:txBody>
                  <a:tcPr>
                    <a:lnL w="12698" cmpd="sng">
                      <a:solidFill>
                        <a:srgbClr val="000000"/>
                      </a:solidFill>
                      <a:prstDash val="solid"/>
                    </a:lnL>
                    <a:lnR w="12698" cmpd="sng">
                      <a:solidFill>
                        <a:srgbClr val="000000"/>
                      </a:solidFill>
                      <a:prstDash val="solid"/>
                    </a:lnR>
                    <a:lnT w="12698" cmpd="sng">
                      <a:solidFill>
                        <a:srgbClr val="000000"/>
                      </a:solidFill>
                      <a:prstDash val="solid"/>
                    </a:lnT>
                    <a:lnB w="12698" cmpd="sng">
                      <a:solidFill>
                        <a:srgbClr val="000000"/>
                      </a:solidFill>
                      <a:prstDash val="solid"/>
                    </a:lnB>
                    <a:noFill/>
                  </a:tcPr>
                </a:tc>
                <a:extLst>
                  <a:ext uri="{0D108BD9-81ED-4DB2-BD59-A6C34878D82A}">
                    <a16:rowId xmlns:a16="http://schemas.microsoft.com/office/drawing/2014/main" val="10001"/>
                  </a:ext>
                </a:extLst>
              </a:tr>
            </a:tbl>
          </a:graphicData>
        </a:graphic>
      </p:graphicFrame>
      <p:sp>
        <p:nvSpPr>
          <p:cNvPr id="3" name="Título 1">
            <a:extLst>
              <a:ext uri="{FF2B5EF4-FFF2-40B4-BE49-F238E27FC236}">
                <a16:creationId xmlns:a16="http://schemas.microsoft.com/office/drawing/2014/main" id="{BCAB81FA-D9AF-46C6-C035-0A9EC272ADCC}"/>
              </a:ext>
            </a:extLst>
          </p:cNvPr>
          <p:cNvSpPr txBox="1">
            <a:spLocks/>
          </p:cNvSpPr>
          <p:nvPr/>
        </p:nvSpPr>
        <p:spPr>
          <a:xfrm>
            <a:off x="838027" y="365017"/>
            <a:ext cx="10514937" cy="1325436"/>
          </a:xfrm>
          <a:prstGeom prst="rect">
            <a:avLst/>
          </a:prstGeom>
          <a:noFill/>
          <a:ln>
            <a:noFill/>
          </a:ln>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s-MX" dirty="0"/>
              <a:t>CONDICIONES DE USO</a:t>
            </a:r>
          </a:p>
        </p:txBody>
      </p:sp>
      <p:sp>
        <p:nvSpPr>
          <p:cNvPr id="4" name="CuadroTexto 3">
            <a:extLst>
              <a:ext uri="{FF2B5EF4-FFF2-40B4-BE49-F238E27FC236}">
                <a16:creationId xmlns:a16="http://schemas.microsoft.com/office/drawing/2014/main" id="{CF00B074-9BE1-33E1-3E52-42ED87F1C4E4}"/>
              </a:ext>
            </a:extLst>
          </p:cNvPr>
          <p:cNvSpPr txBox="1"/>
          <p:nvPr/>
        </p:nvSpPr>
        <p:spPr>
          <a:xfrm>
            <a:off x="836227" y="5837128"/>
            <a:ext cx="2268570" cy="369332"/>
          </a:xfrm>
          <a:prstGeom prst="rect">
            <a:avLst/>
          </a:prstGeom>
          <a:noFill/>
        </p:spPr>
        <p:txBody>
          <a:bodyPr wrap="none" rtlCol="0">
            <a:spAutoFit/>
          </a:bodyPr>
          <a:lstStyle/>
          <a:p>
            <a:r>
              <a:rPr lang="es-MX" dirty="0">
                <a:solidFill>
                  <a:schemeClr val="tx1">
                    <a:lumMod val="75000"/>
                    <a:lumOff val="25000"/>
                  </a:schemeClr>
                </a:solidFill>
              </a:rPr>
              <a:t>(Gamma et al., 1994)</a:t>
            </a:r>
            <a:endParaRPr lang="es-MX" dirty="0"/>
          </a:p>
        </p:txBody>
      </p:sp>
    </p:spTree>
    <p:extLst>
      <p:ext uri="{BB962C8B-B14F-4D97-AF65-F5344CB8AC3E}">
        <p14:creationId xmlns:p14="http://schemas.microsoft.com/office/powerpoint/2010/main" val="1028127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B1B8B9-28C2-26C7-6914-83F274A350A8}"/>
              </a:ext>
            </a:extLst>
          </p:cNvPr>
          <p:cNvSpPr>
            <a:spLocks noGrp="1"/>
          </p:cNvSpPr>
          <p:nvPr>
            <p:ph type="title"/>
          </p:nvPr>
        </p:nvSpPr>
        <p:spPr/>
        <p:txBody>
          <a:bodyPr/>
          <a:lstStyle/>
          <a:p>
            <a:r>
              <a:rPr lang="es-MX" dirty="0"/>
              <a:t>IMPLEMENTACION DEL PATRON BUILDER</a:t>
            </a:r>
          </a:p>
        </p:txBody>
      </p:sp>
      <p:sp>
        <p:nvSpPr>
          <p:cNvPr id="3" name="Marcador de contenido 2">
            <a:extLst>
              <a:ext uri="{FF2B5EF4-FFF2-40B4-BE49-F238E27FC236}">
                <a16:creationId xmlns:a16="http://schemas.microsoft.com/office/drawing/2014/main" id="{E1D33C38-D834-9932-B051-7AEF54B75B7E}"/>
              </a:ext>
            </a:extLst>
          </p:cNvPr>
          <p:cNvSpPr>
            <a:spLocks noGrp="1"/>
          </p:cNvSpPr>
          <p:nvPr>
            <p:ph idx="1"/>
          </p:nvPr>
        </p:nvSpPr>
        <p:spPr/>
        <p:txBody>
          <a:bodyPr/>
          <a:lstStyle/>
          <a:p>
            <a:r>
              <a:rPr lang="es-MX" b="1" dirty="0"/>
              <a:t>Problemática</a:t>
            </a:r>
            <a:r>
              <a:rPr lang="es-MX" dirty="0"/>
              <a:t>:  En un Sistema para la Universidad Veracruzana se requiere registrar distintos tipos de personas, como personas comunes y estudiantes. Cada tipo posee atributos diferentes y algunos campos son opcionales. </a:t>
            </a:r>
          </a:p>
        </p:txBody>
      </p:sp>
    </p:spTree>
    <p:extLst>
      <p:ext uri="{BB962C8B-B14F-4D97-AF65-F5344CB8AC3E}">
        <p14:creationId xmlns:p14="http://schemas.microsoft.com/office/powerpoint/2010/main" val="476038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5C96B521-7309-C8E6-DD5F-D5271F1E95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93913" y="284213"/>
            <a:ext cx="6804174" cy="6289573"/>
          </a:xfrm>
          <a:prstGeom prst="rect">
            <a:avLst/>
          </a:prstGeom>
        </p:spPr>
      </p:pic>
    </p:spTree>
    <p:extLst>
      <p:ext uri="{BB962C8B-B14F-4D97-AF65-F5344CB8AC3E}">
        <p14:creationId xmlns:p14="http://schemas.microsoft.com/office/powerpoint/2010/main" val="2754243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EDA395-8F61-F70D-E082-5C717CC8256C}"/>
              </a:ext>
            </a:extLst>
          </p:cNvPr>
          <p:cNvSpPr>
            <a:spLocks noGrp="1"/>
          </p:cNvSpPr>
          <p:nvPr>
            <p:ph type="title"/>
          </p:nvPr>
        </p:nvSpPr>
        <p:spPr/>
        <p:txBody>
          <a:bodyPr/>
          <a:lstStyle/>
          <a:p>
            <a:r>
              <a:rPr lang="es-MX" dirty="0"/>
              <a:t>CODIGO IMPLEMENTADO</a:t>
            </a:r>
          </a:p>
        </p:txBody>
      </p:sp>
      <p:pic>
        <p:nvPicPr>
          <p:cNvPr id="5" name="Imagen 4">
            <a:extLst>
              <a:ext uri="{FF2B5EF4-FFF2-40B4-BE49-F238E27FC236}">
                <a16:creationId xmlns:a16="http://schemas.microsoft.com/office/drawing/2014/main" id="{D2F79ACE-E644-725D-D234-FDF116ED3673}"/>
              </a:ext>
            </a:extLst>
          </p:cNvPr>
          <p:cNvPicPr>
            <a:picLocks noChangeAspect="1"/>
          </p:cNvPicPr>
          <p:nvPr/>
        </p:nvPicPr>
        <p:blipFill>
          <a:blip r:embed="rId2"/>
          <a:stretch>
            <a:fillRect/>
          </a:stretch>
        </p:blipFill>
        <p:spPr>
          <a:xfrm>
            <a:off x="1515505" y="1690688"/>
            <a:ext cx="3280530" cy="1045966"/>
          </a:xfrm>
          <a:prstGeom prst="rect">
            <a:avLst/>
          </a:prstGeom>
        </p:spPr>
      </p:pic>
      <p:sp>
        <p:nvSpPr>
          <p:cNvPr id="6" name="CuadroTexto 5">
            <a:extLst>
              <a:ext uri="{FF2B5EF4-FFF2-40B4-BE49-F238E27FC236}">
                <a16:creationId xmlns:a16="http://schemas.microsoft.com/office/drawing/2014/main" id="{90E81970-84E0-38BC-792C-2E004D204C9F}"/>
              </a:ext>
            </a:extLst>
          </p:cNvPr>
          <p:cNvSpPr txBox="1"/>
          <p:nvPr/>
        </p:nvSpPr>
        <p:spPr>
          <a:xfrm>
            <a:off x="1682163" y="2871591"/>
            <a:ext cx="2500813" cy="369332"/>
          </a:xfrm>
          <a:prstGeom prst="rect">
            <a:avLst/>
          </a:prstGeom>
          <a:noFill/>
        </p:spPr>
        <p:txBody>
          <a:bodyPr wrap="none" rtlCol="0">
            <a:spAutoFit/>
          </a:bodyPr>
          <a:lstStyle/>
          <a:p>
            <a:r>
              <a:rPr lang="es-MX" dirty="0"/>
              <a:t>Interfaz: </a:t>
            </a:r>
            <a:r>
              <a:rPr lang="es-MX" dirty="0" err="1"/>
              <a:t>IPersonBuilder</a:t>
            </a:r>
            <a:endParaRPr lang="es-MX" dirty="0"/>
          </a:p>
        </p:txBody>
      </p:sp>
      <p:pic>
        <p:nvPicPr>
          <p:cNvPr id="7" name="Imagen 6">
            <a:extLst>
              <a:ext uri="{FF2B5EF4-FFF2-40B4-BE49-F238E27FC236}">
                <a16:creationId xmlns:a16="http://schemas.microsoft.com/office/drawing/2014/main" id="{24E09DCE-1F5A-B8DC-12F7-B3E38E95E9CB}"/>
              </a:ext>
            </a:extLst>
          </p:cNvPr>
          <p:cNvPicPr>
            <a:picLocks noChangeAspect="1"/>
          </p:cNvPicPr>
          <p:nvPr/>
        </p:nvPicPr>
        <p:blipFill>
          <a:blip r:embed="rId3"/>
          <a:stretch>
            <a:fillRect/>
          </a:stretch>
        </p:blipFill>
        <p:spPr>
          <a:xfrm>
            <a:off x="6070729" y="1518588"/>
            <a:ext cx="3781953" cy="4658375"/>
          </a:xfrm>
          <a:prstGeom prst="rect">
            <a:avLst/>
          </a:prstGeom>
        </p:spPr>
      </p:pic>
      <p:sp>
        <p:nvSpPr>
          <p:cNvPr id="8" name="CuadroTexto 7">
            <a:extLst>
              <a:ext uri="{FF2B5EF4-FFF2-40B4-BE49-F238E27FC236}">
                <a16:creationId xmlns:a16="http://schemas.microsoft.com/office/drawing/2014/main" id="{7EBA5BC1-F9A0-9B40-EC7D-80DBFB1A4AD6}"/>
              </a:ext>
            </a:extLst>
          </p:cNvPr>
          <p:cNvSpPr txBox="1"/>
          <p:nvPr/>
        </p:nvSpPr>
        <p:spPr>
          <a:xfrm>
            <a:off x="6070729" y="6224549"/>
            <a:ext cx="1616661" cy="369332"/>
          </a:xfrm>
          <a:prstGeom prst="rect">
            <a:avLst/>
          </a:prstGeom>
          <a:noFill/>
        </p:spPr>
        <p:txBody>
          <a:bodyPr wrap="none" rtlCol="0">
            <a:spAutoFit/>
          </a:bodyPr>
          <a:lstStyle/>
          <a:p>
            <a:r>
              <a:rPr lang="es-MX" dirty="0"/>
              <a:t>Clase Director</a:t>
            </a:r>
          </a:p>
        </p:txBody>
      </p:sp>
    </p:spTree>
    <p:extLst>
      <p:ext uri="{BB962C8B-B14F-4D97-AF65-F5344CB8AC3E}">
        <p14:creationId xmlns:p14="http://schemas.microsoft.com/office/powerpoint/2010/main" val="3700809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30202-CFD4-D834-953C-DD21C13FF131}"/>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BD6ECDED-70EF-9D8E-DB98-6575B9C6388A}"/>
              </a:ext>
            </a:extLst>
          </p:cNvPr>
          <p:cNvPicPr>
            <a:picLocks noChangeAspect="1"/>
          </p:cNvPicPr>
          <p:nvPr/>
        </p:nvPicPr>
        <p:blipFill>
          <a:blip r:embed="rId2"/>
          <a:stretch>
            <a:fillRect/>
          </a:stretch>
        </p:blipFill>
        <p:spPr>
          <a:xfrm>
            <a:off x="79180" y="642548"/>
            <a:ext cx="5068007" cy="5572903"/>
          </a:xfrm>
          <a:prstGeom prst="rect">
            <a:avLst/>
          </a:prstGeom>
        </p:spPr>
      </p:pic>
      <p:pic>
        <p:nvPicPr>
          <p:cNvPr id="7" name="Imagen 6">
            <a:extLst>
              <a:ext uri="{FF2B5EF4-FFF2-40B4-BE49-F238E27FC236}">
                <a16:creationId xmlns:a16="http://schemas.microsoft.com/office/drawing/2014/main" id="{B7371D8E-F845-DB32-85D3-FFF1CA57686A}"/>
              </a:ext>
            </a:extLst>
          </p:cNvPr>
          <p:cNvPicPr>
            <a:picLocks noChangeAspect="1"/>
          </p:cNvPicPr>
          <p:nvPr/>
        </p:nvPicPr>
        <p:blipFill>
          <a:blip r:embed="rId3"/>
          <a:stretch>
            <a:fillRect/>
          </a:stretch>
        </p:blipFill>
        <p:spPr>
          <a:xfrm>
            <a:off x="4121343" y="642548"/>
            <a:ext cx="5306165" cy="5077534"/>
          </a:xfrm>
          <a:prstGeom prst="rect">
            <a:avLst/>
          </a:prstGeom>
        </p:spPr>
      </p:pic>
      <p:pic>
        <p:nvPicPr>
          <p:cNvPr id="9" name="Imagen 8">
            <a:extLst>
              <a:ext uri="{FF2B5EF4-FFF2-40B4-BE49-F238E27FC236}">
                <a16:creationId xmlns:a16="http://schemas.microsoft.com/office/drawing/2014/main" id="{8D0D16EA-AE43-94C6-FB0A-95485A4FDD25}"/>
              </a:ext>
            </a:extLst>
          </p:cNvPr>
          <p:cNvPicPr>
            <a:picLocks noChangeAspect="1"/>
          </p:cNvPicPr>
          <p:nvPr/>
        </p:nvPicPr>
        <p:blipFill>
          <a:blip r:embed="rId4"/>
          <a:stretch>
            <a:fillRect/>
          </a:stretch>
        </p:blipFill>
        <p:spPr>
          <a:xfrm>
            <a:off x="8360747" y="642548"/>
            <a:ext cx="2962688" cy="2476846"/>
          </a:xfrm>
          <a:prstGeom prst="rect">
            <a:avLst/>
          </a:prstGeom>
        </p:spPr>
      </p:pic>
    </p:spTree>
    <p:extLst>
      <p:ext uri="{BB962C8B-B14F-4D97-AF65-F5344CB8AC3E}">
        <p14:creationId xmlns:p14="http://schemas.microsoft.com/office/powerpoint/2010/main" val="871964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4C09B96-72DB-6C8F-B49D-2A3A1D7A7778}"/>
              </a:ext>
            </a:extLst>
          </p:cNvPr>
          <p:cNvPicPr>
            <a:picLocks noChangeAspect="1"/>
          </p:cNvPicPr>
          <p:nvPr/>
        </p:nvPicPr>
        <p:blipFill>
          <a:blip r:embed="rId2"/>
          <a:stretch>
            <a:fillRect/>
          </a:stretch>
        </p:blipFill>
        <p:spPr>
          <a:xfrm>
            <a:off x="1119334" y="680654"/>
            <a:ext cx="4496427" cy="5496692"/>
          </a:xfrm>
          <a:prstGeom prst="rect">
            <a:avLst/>
          </a:prstGeom>
        </p:spPr>
      </p:pic>
      <p:pic>
        <p:nvPicPr>
          <p:cNvPr id="5" name="Imagen 4">
            <a:extLst>
              <a:ext uri="{FF2B5EF4-FFF2-40B4-BE49-F238E27FC236}">
                <a16:creationId xmlns:a16="http://schemas.microsoft.com/office/drawing/2014/main" id="{78496C92-A49B-5D38-B633-D0A57D508F15}"/>
              </a:ext>
            </a:extLst>
          </p:cNvPr>
          <p:cNvPicPr>
            <a:picLocks noChangeAspect="1"/>
          </p:cNvPicPr>
          <p:nvPr/>
        </p:nvPicPr>
        <p:blipFill>
          <a:blip r:embed="rId3"/>
          <a:stretch>
            <a:fillRect/>
          </a:stretch>
        </p:blipFill>
        <p:spPr>
          <a:xfrm>
            <a:off x="5615761" y="789306"/>
            <a:ext cx="2562583" cy="2772162"/>
          </a:xfrm>
          <a:prstGeom prst="rect">
            <a:avLst/>
          </a:prstGeom>
        </p:spPr>
      </p:pic>
    </p:spTree>
    <p:extLst>
      <p:ext uri="{BB962C8B-B14F-4D97-AF65-F5344CB8AC3E}">
        <p14:creationId xmlns:p14="http://schemas.microsoft.com/office/powerpoint/2010/main" val="2553369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1E1DB11E-5FAD-3F7C-36B9-CAC91E857D27}"/>
              </a:ext>
            </a:extLst>
          </p:cNvPr>
          <p:cNvPicPr>
            <a:picLocks noChangeAspect="1"/>
          </p:cNvPicPr>
          <p:nvPr/>
        </p:nvPicPr>
        <p:blipFill>
          <a:blip r:embed="rId2"/>
          <a:stretch>
            <a:fillRect/>
          </a:stretch>
        </p:blipFill>
        <p:spPr>
          <a:xfrm>
            <a:off x="438439" y="594917"/>
            <a:ext cx="4648849" cy="5668166"/>
          </a:xfrm>
          <a:prstGeom prst="rect">
            <a:avLst/>
          </a:prstGeom>
        </p:spPr>
      </p:pic>
      <p:pic>
        <p:nvPicPr>
          <p:cNvPr id="7" name="Imagen 6">
            <a:extLst>
              <a:ext uri="{FF2B5EF4-FFF2-40B4-BE49-F238E27FC236}">
                <a16:creationId xmlns:a16="http://schemas.microsoft.com/office/drawing/2014/main" id="{435E34C2-7E37-005E-F6C7-2752AC58D8BA}"/>
              </a:ext>
            </a:extLst>
          </p:cNvPr>
          <p:cNvPicPr>
            <a:picLocks noChangeAspect="1"/>
          </p:cNvPicPr>
          <p:nvPr/>
        </p:nvPicPr>
        <p:blipFill>
          <a:blip r:embed="rId3"/>
          <a:stretch>
            <a:fillRect/>
          </a:stretch>
        </p:blipFill>
        <p:spPr>
          <a:xfrm>
            <a:off x="4239046" y="828312"/>
            <a:ext cx="4982270" cy="5201376"/>
          </a:xfrm>
          <a:prstGeom prst="rect">
            <a:avLst/>
          </a:prstGeom>
        </p:spPr>
      </p:pic>
      <p:pic>
        <p:nvPicPr>
          <p:cNvPr id="9" name="Imagen 8">
            <a:extLst>
              <a:ext uri="{FF2B5EF4-FFF2-40B4-BE49-F238E27FC236}">
                <a16:creationId xmlns:a16="http://schemas.microsoft.com/office/drawing/2014/main" id="{05372B44-4AAB-AC8C-EFBB-DBC950D18BAC}"/>
              </a:ext>
            </a:extLst>
          </p:cNvPr>
          <p:cNvPicPr>
            <a:picLocks noChangeAspect="1"/>
          </p:cNvPicPr>
          <p:nvPr/>
        </p:nvPicPr>
        <p:blipFill>
          <a:blip r:embed="rId4"/>
          <a:stretch>
            <a:fillRect/>
          </a:stretch>
        </p:blipFill>
        <p:spPr>
          <a:xfrm>
            <a:off x="8591047" y="828312"/>
            <a:ext cx="3600953" cy="2429214"/>
          </a:xfrm>
          <a:prstGeom prst="rect">
            <a:avLst/>
          </a:prstGeom>
        </p:spPr>
      </p:pic>
    </p:spTree>
    <p:extLst>
      <p:ext uri="{BB962C8B-B14F-4D97-AF65-F5344CB8AC3E}">
        <p14:creationId xmlns:p14="http://schemas.microsoft.com/office/powerpoint/2010/main" val="33066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9F47AEE-2510-95B7-116B-6EF3D43EFC52}"/>
              </a:ext>
            </a:extLst>
          </p:cNvPr>
          <p:cNvPicPr>
            <a:picLocks noChangeAspect="1"/>
          </p:cNvPicPr>
          <p:nvPr/>
        </p:nvPicPr>
        <p:blipFill>
          <a:blip r:embed="rId2"/>
          <a:stretch>
            <a:fillRect/>
          </a:stretch>
        </p:blipFill>
        <p:spPr>
          <a:xfrm>
            <a:off x="1009038" y="799733"/>
            <a:ext cx="4363059" cy="5258534"/>
          </a:xfrm>
          <a:prstGeom prst="rect">
            <a:avLst/>
          </a:prstGeom>
        </p:spPr>
      </p:pic>
      <p:pic>
        <p:nvPicPr>
          <p:cNvPr id="5" name="Imagen 4">
            <a:extLst>
              <a:ext uri="{FF2B5EF4-FFF2-40B4-BE49-F238E27FC236}">
                <a16:creationId xmlns:a16="http://schemas.microsoft.com/office/drawing/2014/main" id="{1A5178E2-E6B1-882E-7F24-9F4D945321C7}"/>
              </a:ext>
            </a:extLst>
          </p:cNvPr>
          <p:cNvPicPr>
            <a:picLocks noChangeAspect="1"/>
          </p:cNvPicPr>
          <p:nvPr/>
        </p:nvPicPr>
        <p:blipFill>
          <a:blip r:embed="rId3"/>
          <a:stretch>
            <a:fillRect/>
          </a:stretch>
        </p:blipFill>
        <p:spPr>
          <a:xfrm>
            <a:off x="5395718" y="590154"/>
            <a:ext cx="2848373" cy="2838846"/>
          </a:xfrm>
          <a:prstGeom prst="rect">
            <a:avLst/>
          </a:prstGeom>
        </p:spPr>
      </p:pic>
    </p:spTree>
    <p:extLst>
      <p:ext uri="{BB962C8B-B14F-4D97-AF65-F5344CB8AC3E}">
        <p14:creationId xmlns:p14="http://schemas.microsoft.com/office/powerpoint/2010/main" val="645198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98AEAA5-222B-FDC9-ED1E-6371088BD8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2248" y="0"/>
            <a:ext cx="7507504" cy="6858000"/>
          </a:xfrm>
          <a:prstGeom prst="rect">
            <a:avLst/>
          </a:prstGeom>
        </p:spPr>
      </p:pic>
    </p:spTree>
    <p:extLst>
      <p:ext uri="{BB962C8B-B14F-4D97-AF65-F5344CB8AC3E}">
        <p14:creationId xmlns:p14="http://schemas.microsoft.com/office/powerpoint/2010/main" val="3344474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95C2F-B2E7-8478-1246-62DA2C7FA5C0}"/>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09F844F2-0D1F-721A-48F2-3E6ED2DE4783}"/>
              </a:ext>
            </a:extLst>
          </p:cNvPr>
          <p:cNvSpPr>
            <a:spLocks noGrp="1"/>
          </p:cNvSpPr>
          <p:nvPr>
            <p:ph type="title"/>
          </p:nvPr>
        </p:nvSpPr>
        <p:spPr/>
        <p:txBody>
          <a:bodyPr/>
          <a:lstStyle/>
          <a:p>
            <a:r>
              <a:rPr lang="es-MX" dirty="0"/>
              <a:t>ABSTRACT </a:t>
            </a:r>
            <a:br>
              <a:rPr lang="es-MX" dirty="0"/>
            </a:br>
            <a:r>
              <a:rPr lang="es-MX" dirty="0"/>
              <a:t>FACTORY</a:t>
            </a:r>
          </a:p>
        </p:txBody>
      </p:sp>
      <p:sp>
        <p:nvSpPr>
          <p:cNvPr id="5" name="Marcador de texto 4">
            <a:extLst>
              <a:ext uri="{FF2B5EF4-FFF2-40B4-BE49-F238E27FC236}">
                <a16:creationId xmlns:a16="http://schemas.microsoft.com/office/drawing/2014/main" id="{63D8237F-1497-02C6-E03A-D03A8C2CAA8A}"/>
              </a:ext>
            </a:extLst>
          </p:cNvPr>
          <p:cNvSpPr>
            <a:spLocks noGrp="1"/>
          </p:cNvSpPr>
          <p:nvPr>
            <p:ph type="body" idx="1"/>
          </p:nvPr>
        </p:nvSpPr>
        <p:spPr/>
        <p:txBody>
          <a:bodyPr/>
          <a:lstStyle/>
          <a:p>
            <a:endParaRPr lang="es-MX" dirty="0"/>
          </a:p>
        </p:txBody>
      </p:sp>
      <p:pic>
        <p:nvPicPr>
          <p:cNvPr id="2" name="Picture 3">
            <a:extLst>
              <a:ext uri="{FF2B5EF4-FFF2-40B4-BE49-F238E27FC236}">
                <a16:creationId xmlns:a16="http://schemas.microsoft.com/office/drawing/2014/main" id="{1C78AF03-7930-1CE0-7202-799BCAE8CCE6}"/>
              </a:ext>
            </a:extLst>
          </p:cNvPr>
          <p:cNvPicPr/>
          <p:nvPr/>
        </p:nvPicPr>
        <p:blipFill>
          <a:blip r:embed="rId2"/>
          <a:stretch>
            <a:fillRect/>
          </a:stretch>
        </p:blipFill>
        <p:spPr>
          <a:xfrm>
            <a:off x="6539946" y="1865438"/>
            <a:ext cx="3184719" cy="3127123"/>
          </a:xfrm>
          <a:prstGeom prst="rect">
            <a:avLst/>
          </a:prstGeom>
          <a:ln>
            <a:noFill/>
          </a:ln>
          <a:effectLst/>
        </p:spPr>
      </p:pic>
    </p:spTree>
    <p:extLst>
      <p:ext uri="{BB962C8B-B14F-4D97-AF65-F5344CB8AC3E}">
        <p14:creationId xmlns:p14="http://schemas.microsoft.com/office/powerpoint/2010/main" val="23849666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noGroup"/>
        <p:cNvGrpSpPr/>
        <p:nvPr/>
      </p:nvGrpSpPr>
      <p:grpSpPr>
        <a:xfrm>
          <a:off x="0" y="0"/>
          <a:ext cx="0" cy="0"/>
          <a:chOff x="0" y="0"/>
          <a:chExt cx="0" cy="0"/>
        </a:xfrm>
      </p:grpSpPr>
      <p:sp>
        <p:nvSpPr>
          <p:cNvPr id="2" name="Título 1"/>
          <p:cNvSpPr txBox="1">
            <a:spLocks noGrp="1"/>
          </p:cNvSpPr>
          <p:nvPr>
            <p:ph type="title" idx="4294967295"/>
          </p:nvPr>
        </p:nvSpPr>
        <p:spPr>
          <a:xfrm>
            <a:off x="838027" y="365017"/>
            <a:ext cx="10514937" cy="1325436"/>
          </a:xfrm>
          <a:prstGeom prst="rect">
            <a:avLst/>
          </a:prstGeom>
          <a:noFill/>
          <a:ln>
            <a:noFill/>
          </a:ln>
          <a:effectLst/>
        </p:spPr>
        <p:txBody>
          <a:bodyPr lIns="91440" tIns="45720" rIns="91440" bIns="45720" anchor="ctr"/>
          <a:lstStyle/>
          <a:p>
            <a:pPr marL="0" marR="0" indent="0" algn="l">
              <a:lnSpc>
                <a:spcPct val="90000"/>
              </a:lnSpc>
              <a:spcBef>
                <a:spcPts val="0"/>
              </a:spcBef>
              <a:spcAft>
                <a:spcPts val="0"/>
              </a:spcAft>
            </a:pPr>
            <a:r>
              <a:rPr lang="es-MX" sz="4400" u="none" spc="0">
                <a:solidFill>
                  <a:srgbClr val="000000"/>
                </a:solidFill>
                <a:latin typeface="Aptos Display"/>
                <a:cs typeface="Aptos Display"/>
              </a:rPr>
              <a:t>ABSTRACT FACTORY – ANALOGÍA</a:t>
            </a:r>
            <a:endParaRPr/>
          </a:p>
        </p:txBody>
      </p:sp>
      <p:sp>
        <p:nvSpPr>
          <p:cNvPr id="3" name="Marcador de contenido 2"/>
          <p:cNvSpPr txBox="1">
            <a:spLocks noGrp="1"/>
          </p:cNvSpPr>
          <p:nvPr>
            <p:ph idx="4294967295"/>
          </p:nvPr>
        </p:nvSpPr>
        <p:spPr>
          <a:xfrm>
            <a:off x="838027" y="1825804"/>
            <a:ext cx="4827295" cy="4352125"/>
          </a:xfrm>
          <a:prstGeom prst="rect">
            <a:avLst/>
          </a:prstGeom>
          <a:noFill/>
          <a:ln>
            <a:noFill/>
          </a:ln>
          <a:effectLst/>
        </p:spPr>
        <p:txBody>
          <a:bodyPr lIns="91440" tIns="45720" rIns="91440" bIns="45720" anchor="t"/>
          <a:lstStyle/>
          <a:p>
            <a:pPr marL="0" marR="0" indent="0" algn="l">
              <a:lnSpc>
                <a:spcPct val="90000"/>
              </a:lnSpc>
              <a:spcBef>
                <a:spcPts val="1000"/>
              </a:spcBef>
              <a:spcAft>
                <a:spcPts val="0"/>
              </a:spcAft>
            </a:pPr>
            <a:r>
              <a:rPr lang="es-MX" sz="2800" u="none" spc="0">
                <a:solidFill>
                  <a:srgbClr val="000000"/>
                </a:solidFill>
                <a:latin typeface="Aptos"/>
                <a:cs typeface="Aptos"/>
              </a:rPr>
              <a:t>Imaginemos que queremos un árbol de fruta en nuestro patio pero existen tantas variedades de árbol y cada tipo de árbol tiene ciertos cuidados diferentes. Por lo tanto no puedes plantar cualquier árbol en tu casa debido a los </a:t>
            </a:r>
            <a:r>
              <a:rPr lang="es-ES" sz="2800" u="none" spc="0">
                <a:solidFill>
                  <a:srgbClr val="000000"/>
                </a:solidFill>
                <a:latin typeface="Aptos"/>
                <a:cs typeface="Aptos"/>
              </a:rPr>
              <a:t>cuidados específicos de cada tipo.</a:t>
            </a:r>
            <a:endParaRPr/>
          </a:p>
        </p:txBody>
      </p:sp>
      <p:pic>
        <p:nvPicPr>
          <p:cNvPr id="4" name="Imagen 4"/>
          <p:cNvPicPr/>
          <p:nvPr/>
        </p:nvPicPr>
        <p:blipFill>
          <a:blip r:embed="rId3"/>
          <a:srcRect l="5187" t="9140" r="6044" b="13845"/>
          <a:stretch/>
        </p:blipFill>
        <p:spPr>
          <a:xfrm>
            <a:off x="5687641" y="2397089"/>
            <a:ext cx="5666043" cy="2683270"/>
          </a:xfrm>
          <a:prstGeom prst="rect">
            <a:avLst/>
          </a:prstGeom>
          <a:ln>
            <a:noFill/>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685EE-1E77-4A0B-D1F6-65E5A93B9FFA}"/>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FFAFE645-143D-072F-E0C2-E78181ECFD8B}"/>
              </a:ext>
            </a:extLst>
          </p:cNvPr>
          <p:cNvSpPr>
            <a:spLocks noGrp="1"/>
          </p:cNvSpPr>
          <p:nvPr>
            <p:ph type="title"/>
          </p:nvPr>
        </p:nvSpPr>
        <p:spPr/>
        <p:txBody>
          <a:bodyPr/>
          <a:lstStyle/>
          <a:p>
            <a:r>
              <a:rPr lang="es-MX" dirty="0" err="1"/>
              <a:t>Definicion</a:t>
            </a:r>
            <a:endParaRPr lang="es-MX" dirty="0"/>
          </a:p>
        </p:txBody>
      </p:sp>
      <p:sp>
        <p:nvSpPr>
          <p:cNvPr id="5" name="Marcador de contenido 4">
            <a:extLst>
              <a:ext uri="{FF2B5EF4-FFF2-40B4-BE49-F238E27FC236}">
                <a16:creationId xmlns:a16="http://schemas.microsoft.com/office/drawing/2014/main" id="{3778BF18-A192-F17D-BFC0-F52F7C85664A}"/>
              </a:ext>
            </a:extLst>
          </p:cNvPr>
          <p:cNvSpPr>
            <a:spLocks noGrp="1"/>
          </p:cNvSpPr>
          <p:nvPr>
            <p:ph idx="1"/>
          </p:nvPr>
        </p:nvSpPr>
        <p:spPr/>
        <p:txBody>
          <a:bodyPr/>
          <a:lstStyle/>
          <a:p>
            <a:pPr marL="0" indent="0">
              <a:buNone/>
            </a:pPr>
            <a:r>
              <a:rPr lang="es-MX" b="1" dirty="0">
                <a:solidFill>
                  <a:srgbClr val="000000"/>
                </a:solidFill>
                <a:cs typeface="Aptos"/>
              </a:rPr>
              <a:t>ABSTRACT FACTORY</a:t>
            </a:r>
            <a:r>
              <a:rPr lang="es-MX" dirty="0">
                <a:solidFill>
                  <a:srgbClr val="000000"/>
                </a:solidFill>
                <a:cs typeface="Aptos"/>
              </a:rPr>
              <a:t> en un patrón de diseño</a:t>
            </a:r>
            <a:r>
              <a:rPr lang="es-MX" b="1" dirty="0">
                <a:solidFill>
                  <a:srgbClr val="000000"/>
                </a:solidFill>
                <a:cs typeface="Aptos"/>
              </a:rPr>
              <a:t> </a:t>
            </a:r>
            <a:r>
              <a:rPr lang="es-MX" dirty="0">
                <a:solidFill>
                  <a:srgbClr val="000000"/>
                </a:solidFill>
                <a:cs typeface="Aptos"/>
              </a:rPr>
              <a:t>que nos permite producir familias de objetos relacionados sin especificar sus clases concretas.</a:t>
            </a:r>
            <a:endParaRPr lang="es-MX" dirty="0"/>
          </a:p>
          <a:p>
            <a:r>
              <a:rPr lang="es-MX" dirty="0"/>
              <a:t>Tipo de Patron: Creacional</a:t>
            </a:r>
          </a:p>
          <a:p>
            <a:r>
              <a:rPr lang="es-MX" dirty="0"/>
              <a:t>Alcance: Objeto</a:t>
            </a:r>
          </a:p>
          <a:p>
            <a:r>
              <a:rPr lang="es-MX" dirty="0"/>
              <a:t>Alias: KIT</a:t>
            </a:r>
          </a:p>
        </p:txBody>
      </p:sp>
      <p:sp>
        <p:nvSpPr>
          <p:cNvPr id="11" name="CuadroTexto 10">
            <a:extLst>
              <a:ext uri="{FF2B5EF4-FFF2-40B4-BE49-F238E27FC236}">
                <a16:creationId xmlns:a16="http://schemas.microsoft.com/office/drawing/2014/main" id="{2292A830-0530-3304-F114-B816C471C53C}"/>
              </a:ext>
            </a:extLst>
          </p:cNvPr>
          <p:cNvSpPr txBox="1"/>
          <p:nvPr/>
        </p:nvSpPr>
        <p:spPr>
          <a:xfrm>
            <a:off x="838200" y="6016311"/>
            <a:ext cx="6098458" cy="369332"/>
          </a:xfrm>
          <a:prstGeom prst="rect">
            <a:avLst/>
          </a:prstGeom>
          <a:noFill/>
        </p:spPr>
        <p:txBody>
          <a:bodyPr wrap="square">
            <a:spAutoFit/>
          </a:bodyPr>
          <a:lstStyle/>
          <a:p>
            <a:pPr>
              <a:defRPr/>
            </a:pPr>
            <a:r>
              <a:rPr lang="es-MX" dirty="0">
                <a:solidFill>
                  <a:schemeClr val="tx1">
                    <a:lumMod val="65000"/>
                    <a:lumOff val="35000"/>
                  </a:schemeClr>
                </a:solidFill>
              </a:rPr>
              <a:t>(</a:t>
            </a:r>
            <a:r>
              <a:rPr lang="es-MX" dirty="0" err="1">
                <a:solidFill>
                  <a:schemeClr val="tx1">
                    <a:lumMod val="65000"/>
                    <a:lumOff val="35000"/>
                  </a:schemeClr>
                </a:solidFill>
              </a:rPr>
              <a:t>Refactoring.Guru</a:t>
            </a:r>
            <a:r>
              <a:rPr lang="es-MX" dirty="0">
                <a:solidFill>
                  <a:schemeClr val="tx1">
                    <a:lumMod val="65000"/>
                    <a:lumOff val="35000"/>
                  </a:schemeClr>
                </a:solidFill>
              </a:rPr>
              <a:t>, 2026)</a:t>
            </a:r>
          </a:p>
        </p:txBody>
      </p:sp>
    </p:spTree>
    <p:extLst>
      <p:ext uri="{BB962C8B-B14F-4D97-AF65-F5344CB8AC3E}">
        <p14:creationId xmlns:p14="http://schemas.microsoft.com/office/powerpoint/2010/main" val="27483649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6C149-1955-5ADA-424C-9F9D3D200A0C}"/>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FC572662-53BF-AFB8-B5C7-0AB49BE2604A}"/>
              </a:ext>
            </a:extLst>
          </p:cNvPr>
          <p:cNvSpPr>
            <a:spLocks noGrp="1"/>
          </p:cNvSpPr>
          <p:nvPr>
            <p:ph type="title"/>
          </p:nvPr>
        </p:nvSpPr>
        <p:spPr>
          <a:xfrm>
            <a:off x="838200" y="664778"/>
            <a:ext cx="5181600" cy="726256"/>
          </a:xfrm>
        </p:spPr>
        <p:txBody>
          <a:bodyPr/>
          <a:lstStyle/>
          <a:p>
            <a:r>
              <a:rPr lang="es-MX" dirty="0"/>
              <a:t>Intención</a:t>
            </a:r>
          </a:p>
        </p:txBody>
      </p:sp>
      <p:sp>
        <p:nvSpPr>
          <p:cNvPr id="5" name="Marcador de contenido 4">
            <a:extLst>
              <a:ext uri="{FF2B5EF4-FFF2-40B4-BE49-F238E27FC236}">
                <a16:creationId xmlns:a16="http://schemas.microsoft.com/office/drawing/2014/main" id="{A04EC7EA-28B0-9301-35C6-A3ED8C372CA5}"/>
              </a:ext>
            </a:extLst>
          </p:cNvPr>
          <p:cNvSpPr>
            <a:spLocks noGrp="1"/>
          </p:cNvSpPr>
          <p:nvPr>
            <p:ph sz="half" idx="1"/>
          </p:nvPr>
        </p:nvSpPr>
        <p:spPr>
          <a:xfrm>
            <a:off x="838200" y="1391034"/>
            <a:ext cx="5181600" cy="4785929"/>
          </a:xfrm>
        </p:spPr>
        <p:txBody>
          <a:bodyPr/>
          <a:lstStyle/>
          <a:p>
            <a:pPr marL="0" indent="0">
              <a:buNone/>
            </a:pPr>
            <a:r>
              <a:rPr lang="es-MX" dirty="0"/>
              <a:t>“Proporcionar una interfaz para crear familias de objetos relacionados o dependientes sin especificar sus clases concretas.”</a:t>
            </a:r>
          </a:p>
        </p:txBody>
      </p:sp>
      <p:sp>
        <p:nvSpPr>
          <p:cNvPr id="6" name="Marcador de contenido 5">
            <a:extLst>
              <a:ext uri="{FF2B5EF4-FFF2-40B4-BE49-F238E27FC236}">
                <a16:creationId xmlns:a16="http://schemas.microsoft.com/office/drawing/2014/main" id="{B9A31BC5-EFD2-D2FF-A53E-C400B9ED33D3}"/>
              </a:ext>
            </a:extLst>
          </p:cNvPr>
          <p:cNvSpPr>
            <a:spLocks noGrp="1"/>
          </p:cNvSpPr>
          <p:nvPr>
            <p:ph sz="half" idx="2"/>
          </p:nvPr>
        </p:nvSpPr>
        <p:spPr>
          <a:xfrm>
            <a:off x="6172200" y="1391034"/>
            <a:ext cx="5181600" cy="4785929"/>
          </a:xfrm>
        </p:spPr>
        <p:txBody>
          <a:bodyPr/>
          <a:lstStyle/>
          <a:p>
            <a:pPr marL="0" indent="0"/>
            <a:r>
              <a:rPr lang="es-MX" dirty="0">
                <a:solidFill>
                  <a:srgbClr val="000000"/>
                </a:solidFill>
                <a:cs typeface="Aptos"/>
              </a:rPr>
              <a:t>La problemática fundamental que ayudó a crear el patrón </a:t>
            </a:r>
            <a:r>
              <a:rPr lang="es-MX" b="1" dirty="0">
                <a:solidFill>
                  <a:srgbClr val="000000"/>
                </a:solidFill>
                <a:cs typeface="Aptos"/>
              </a:rPr>
              <a:t>ABSTRACT FACTORY </a:t>
            </a:r>
            <a:r>
              <a:rPr lang="es-MX" dirty="0">
                <a:solidFill>
                  <a:srgbClr val="000000"/>
                </a:solidFill>
                <a:cs typeface="Aptos"/>
              </a:rPr>
              <a:t>fue la necesidad de manejar productos de categorías similares pero de diferentes clases.</a:t>
            </a:r>
            <a:endParaRPr lang="es-MX" dirty="0"/>
          </a:p>
        </p:txBody>
      </p:sp>
      <p:sp>
        <p:nvSpPr>
          <p:cNvPr id="7" name="Título 3">
            <a:extLst>
              <a:ext uri="{FF2B5EF4-FFF2-40B4-BE49-F238E27FC236}">
                <a16:creationId xmlns:a16="http://schemas.microsoft.com/office/drawing/2014/main" id="{9E71AF11-9E1E-C625-DDA8-B6E8E9B48614}"/>
              </a:ext>
            </a:extLst>
          </p:cNvPr>
          <p:cNvSpPr txBox="1">
            <a:spLocks/>
          </p:cNvSpPr>
          <p:nvPr/>
        </p:nvSpPr>
        <p:spPr>
          <a:xfrm>
            <a:off x="6172200" y="664777"/>
            <a:ext cx="5181600" cy="7262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dirty="0"/>
              <a:t>Problema</a:t>
            </a:r>
          </a:p>
        </p:txBody>
      </p:sp>
      <p:sp>
        <p:nvSpPr>
          <p:cNvPr id="8" name="CuadroTexto 7">
            <a:extLst>
              <a:ext uri="{FF2B5EF4-FFF2-40B4-BE49-F238E27FC236}">
                <a16:creationId xmlns:a16="http://schemas.microsoft.com/office/drawing/2014/main" id="{6A0B03BB-3166-34E4-12ED-EEFD2DC3D0A9}"/>
              </a:ext>
            </a:extLst>
          </p:cNvPr>
          <p:cNvSpPr txBox="1"/>
          <p:nvPr/>
        </p:nvSpPr>
        <p:spPr>
          <a:xfrm>
            <a:off x="838200" y="3429000"/>
            <a:ext cx="5181600" cy="369332"/>
          </a:xfrm>
          <a:prstGeom prst="rect">
            <a:avLst/>
          </a:prstGeom>
          <a:noFill/>
        </p:spPr>
        <p:txBody>
          <a:bodyPr wrap="square" rtlCol="0">
            <a:spAutoFit/>
          </a:bodyPr>
          <a:lstStyle/>
          <a:p>
            <a:r>
              <a:rPr lang="es-MX" dirty="0">
                <a:solidFill>
                  <a:schemeClr val="tx1">
                    <a:lumMod val="75000"/>
                    <a:lumOff val="25000"/>
                  </a:schemeClr>
                </a:solidFill>
              </a:rPr>
              <a:t>Fragmento Extraído de: Gamma et al., 1994</a:t>
            </a:r>
          </a:p>
        </p:txBody>
      </p:sp>
      <p:sp>
        <p:nvSpPr>
          <p:cNvPr id="2" name="CuadroTexto 1">
            <a:extLst>
              <a:ext uri="{FF2B5EF4-FFF2-40B4-BE49-F238E27FC236}">
                <a16:creationId xmlns:a16="http://schemas.microsoft.com/office/drawing/2014/main" id="{BBF8FDD5-7C33-CF77-505E-6F774FC4AD29}"/>
              </a:ext>
            </a:extLst>
          </p:cNvPr>
          <p:cNvSpPr txBox="1"/>
          <p:nvPr/>
        </p:nvSpPr>
        <p:spPr>
          <a:xfrm>
            <a:off x="8763000" y="5807631"/>
            <a:ext cx="2611694" cy="369332"/>
          </a:xfrm>
          <a:prstGeom prst="rect">
            <a:avLst/>
          </a:prstGeom>
          <a:noFill/>
        </p:spPr>
        <p:txBody>
          <a:bodyPr wrap="square">
            <a:spAutoFit/>
          </a:bodyPr>
          <a:lstStyle/>
          <a:p>
            <a:pPr>
              <a:defRPr/>
            </a:pPr>
            <a:r>
              <a:rPr lang="es-MX" dirty="0">
                <a:solidFill>
                  <a:schemeClr val="tx1">
                    <a:lumMod val="65000"/>
                    <a:lumOff val="35000"/>
                  </a:schemeClr>
                </a:solidFill>
              </a:rPr>
              <a:t>(</a:t>
            </a:r>
            <a:r>
              <a:rPr lang="es-MX" dirty="0" err="1">
                <a:solidFill>
                  <a:schemeClr val="tx1">
                    <a:lumMod val="65000"/>
                    <a:lumOff val="35000"/>
                  </a:schemeClr>
                </a:solidFill>
              </a:rPr>
              <a:t>Refactoring.Guru</a:t>
            </a:r>
            <a:r>
              <a:rPr lang="es-MX" dirty="0">
                <a:solidFill>
                  <a:schemeClr val="tx1">
                    <a:lumMod val="65000"/>
                    <a:lumOff val="35000"/>
                  </a:schemeClr>
                </a:solidFill>
              </a:rPr>
              <a:t>, 2026)</a:t>
            </a:r>
          </a:p>
        </p:txBody>
      </p:sp>
    </p:spTree>
    <p:extLst>
      <p:ext uri="{BB962C8B-B14F-4D97-AF65-F5344CB8AC3E}">
        <p14:creationId xmlns:p14="http://schemas.microsoft.com/office/powerpoint/2010/main" val="18684647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99292-4200-D37F-434B-DCFCDC853127}"/>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C1EFD5B-19B7-C62A-04D7-B3AA5AEC2A36}"/>
              </a:ext>
            </a:extLst>
          </p:cNvPr>
          <p:cNvSpPr>
            <a:spLocks noGrp="1"/>
          </p:cNvSpPr>
          <p:nvPr>
            <p:ph sz="half" idx="1"/>
          </p:nvPr>
        </p:nvSpPr>
        <p:spPr/>
        <p:txBody>
          <a:bodyPr>
            <a:normAutofit fontScale="92500"/>
          </a:bodyPr>
          <a:lstStyle/>
          <a:p>
            <a:r>
              <a:rPr lang="es-MX" dirty="0"/>
              <a:t>Evitar Constructores demasiado Grandes</a:t>
            </a:r>
          </a:p>
          <a:p>
            <a:r>
              <a:rPr lang="es-MX" dirty="0"/>
              <a:t>Control de la Creación de nuevos Objetos</a:t>
            </a:r>
          </a:p>
          <a:p>
            <a:r>
              <a:rPr lang="es-MX" dirty="0"/>
              <a:t>Creación de diferentes objetos con el mismo proceso</a:t>
            </a:r>
          </a:p>
        </p:txBody>
      </p:sp>
      <p:sp>
        <p:nvSpPr>
          <p:cNvPr id="4" name="Marcador de contenido 3">
            <a:extLst>
              <a:ext uri="{FF2B5EF4-FFF2-40B4-BE49-F238E27FC236}">
                <a16:creationId xmlns:a16="http://schemas.microsoft.com/office/drawing/2014/main" id="{3DB3D623-D256-0062-83EF-01FF0758049D}"/>
              </a:ext>
            </a:extLst>
          </p:cNvPr>
          <p:cNvSpPr>
            <a:spLocks noGrp="1"/>
          </p:cNvSpPr>
          <p:nvPr>
            <p:ph sz="half" idx="2"/>
          </p:nvPr>
        </p:nvSpPr>
        <p:spPr/>
        <p:txBody>
          <a:bodyPr>
            <a:normAutofit fontScale="92500"/>
          </a:bodyPr>
          <a:lstStyle/>
          <a:p>
            <a:r>
              <a:rPr lang="es-ES" dirty="0">
                <a:solidFill>
                  <a:srgbClr val="000000"/>
                </a:solidFill>
                <a:cs typeface="Aptos"/>
              </a:rPr>
              <a:t>Programar para interfaces, no para implementaciones: No creamos productos dependiendo de la decisión del cliente, si no que delegamos esa tarea a las fábricas, lo cual permite crear más productos de los establecidos inicialmente.</a:t>
            </a:r>
          </a:p>
          <a:p>
            <a:r>
              <a:rPr lang="es-MX" dirty="0">
                <a:solidFill>
                  <a:srgbClr val="000000"/>
                </a:solidFill>
                <a:cs typeface="Aptos"/>
              </a:rPr>
              <a:t>Encapsulamiento: Oculta las fabricas del cliente sin importar su instancia (lo que varía).</a:t>
            </a:r>
            <a:endParaRPr lang="es-MX" dirty="0"/>
          </a:p>
          <a:p>
            <a:endParaRPr lang="es-MX" dirty="0"/>
          </a:p>
        </p:txBody>
      </p:sp>
      <p:sp>
        <p:nvSpPr>
          <p:cNvPr id="5" name="CuadroTexto 4">
            <a:extLst>
              <a:ext uri="{FF2B5EF4-FFF2-40B4-BE49-F238E27FC236}">
                <a16:creationId xmlns:a16="http://schemas.microsoft.com/office/drawing/2014/main" id="{F238D8FF-F4A1-A90A-49D3-DFEA74B8EA5F}"/>
              </a:ext>
            </a:extLst>
          </p:cNvPr>
          <p:cNvSpPr txBox="1"/>
          <p:nvPr/>
        </p:nvSpPr>
        <p:spPr>
          <a:xfrm>
            <a:off x="988142" y="5807631"/>
            <a:ext cx="2268570" cy="369332"/>
          </a:xfrm>
          <a:prstGeom prst="rect">
            <a:avLst/>
          </a:prstGeom>
          <a:noFill/>
        </p:spPr>
        <p:txBody>
          <a:bodyPr wrap="none" rtlCol="0">
            <a:spAutoFit/>
          </a:bodyPr>
          <a:lstStyle/>
          <a:p>
            <a:r>
              <a:rPr lang="es-MX" dirty="0">
                <a:solidFill>
                  <a:schemeClr val="tx1">
                    <a:lumMod val="75000"/>
                    <a:lumOff val="25000"/>
                  </a:schemeClr>
                </a:solidFill>
              </a:rPr>
              <a:t>(Gamma et al., 1994)</a:t>
            </a:r>
            <a:endParaRPr lang="es-MX" dirty="0"/>
          </a:p>
        </p:txBody>
      </p:sp>
      <p:sp>
        <p:nvSpPr>
          <p:cNvPr id="8" name="Título 1">
            <a:extLst>
              <a:ext uri="{FF2B5EF4-FFF2-40B4-BE49-F238E27FC236}">
                <a16:creationId xmlns:a16="http://schemas.microsoft.com/office/drawing/2014/main" id="{D830B659-725B-6256-C838-E8CBFDE06BE4}"/>
              </a:ext>
            </a:extLst>
          </p:cNvPr>
          <p:cNvSpPr txBox="1">
            <a:spLocks/>
          </p:cNvSpPr>
          <p:nvPr/>
        </p:nvSpPr>
        <p:spPr>
          <a:xfrm>
            <a:off x="838200" y="681037"/>
            <a:ext cx="2789903" cy="9622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a:t>Motivación</a:t>
            </a:r>
            <a:endParaRPr lang="es-MX" dirty="0"/>
          </a:p>
        </p:txBody>
      </p:sp>
      <p:sp>
        <p:nvSpPr>
          <p:cNvPr id="9" name="Título 1">
            <a:extLst>
              <a:ext uri="{FF2B5EF4-FFF2-40B4-BE49-F238E27FC236}">
                <a16:creationId xmlns:a16="http://schemas.microsoft.com/office/drawing/2014/main" id="{E4A4C975-749E-98AE-D6EA-6B303457D68A}"/>
              </a:ext>
            </a:extLst>
          </p:cNvPr>
          <p:cNvSpPr txBox="1">
            <a:spLocks/>
          </p:cNvSpPr>
          <p:nvPr/>
        </p:nvSpPr>
        <p:spPr>
          <a:xfrm>
            <a:off x="6110636" y="668900"/>
            <a:ext cx="5304727" cy="9622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dirty="0"/>
              <a:t>Principios de Diseño</a:t>
            </a:r>
          </a:p>
        </p:txBody>
      </p:sp>
    </p:spTree>
    <p:extLst>
      <p:ext uri="{BB962C8B-B14F-4D97-AF65-F5344CB8AC3E}">
        <p14:creationId xmlns:p14="http://schemas.microsoft.com/office/powerpoint/2010/main" val="37609731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80B27-AC4A-CEF2-F15B-459584824AD6}"/>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903A2A04-B178-62B1-0EEA-C6707AAE4DB5}"/>
              </a:ext>
            </a:extLst>
          </p:cNvPr>
          <p:cNvSpPr>
            <a:spLocks noGrp="1"/>
          </p:cNvSpPr>
          <p:nvPr>
            <p:ph type="title"/>
          </p:nvPr>
        </p:nvSpPr>
        <p:spPr>
          <a:xfrm>
            <a:off x="838200" y="365126"/>
            <a:ext cx="10515600" cy="917984"/>
          </a:xfrm>
        </p:spPr>
        <p:txBody>
          <a:bodyPr/>
          <a:lstStyle/>
          <a:p>
            <a:r>
              <a:rPr lang="es-MX" dirty="0"/>
              <a:t>Participantes y Responsabilidades</a:t>
            </a:r>
          </a:p>
        </p:txBody>
      </p:sp>
      <p:sp>
        <p:nvSpPr>
          <p:cNvPr id="6" name="Marcador de contenido 5">
            <a:extLst>
              <a:ext uri="{FF2B5EF4-FFF2-40B4-BE49-F238E27FC236}">
                <a16:creationId xmlns:a16="http://schemas.microsoft.com/office/drawing/2014/main" id="{F2B7B862-E35E-137D-DA45-8D1A86BCE582}"/>
              </a:ext>
            </a:extLst>
          </p:cNvPr>
          <p:cNvSpPr>
            <a:spLocks noGrp="1"/>
          </p:cNvSpPr>
          <p:nvPr>
            <p:ph idx="1"/>
          </p:nvPr>
        </p:nvSpPr>
        <p:spPr>
          <a:xfrm>
            <a:off x="838200" y="1283110"/>
            <a:ext cx="10515600" cy="4893853"/>
          </a:xfrm>
        </p:spPr>
        <p:txBody>
          <a:bodyPr/>
          <a:lstStyle/>
          <a:p>
            <a:r>
              <a:rPr lang="es-MX" dirty="0">
                <a:solidFill>
                  <a:srgbClr val="000000"/>
                </a:solidFill>
                <a:cs typeface="Aptos"/>
              </a:rPr>
              <a:t>Cliente: interactúa con la fábrica indicando los productos que desea crear.</a:t>
            </a:r>
            <a:endParaRPr lang="es-MX" dirty="0"/>
          </a:p>
          <a:p>
            <a:pPr>
              <a:spcBef>
                <a:spcPts val="999"/>
              </a:spcBef>
            </a:pPr>
            <a:r>
              <a:rPr lang="es-MX" dirty="0" err="1">
                <a:solidFill>
                  <a:srgbClr val="000000"/>
                </a:solidFill>
                <a:cs typeface="Aptos"/>
              </a:rPr>
              <a:t>AbstractFactory</a:t>
            </a:r>
            <a:r>
              <a:rPr lang="es-MX" dirty="0">
                <a:solidFill>
                  <a:srgbClr val="000000"/>
                </a:solidFill>
                <a:cs typeface="Aptos"/>
              </a:rPr>
              <a:t>: declara operaciones para crear productos.</a:t>
            </a:r>
            <a:endParaRPr lang="es-MX" dirty="0"/>
          </a:p>
          <a:p>
            <a:pPr>
              <a:spcBef>
                <a:spcPts val="999"/>
              </a:spcBef>
            </a:pPr>
            <a:r>
              <a:rPr lang="es-MX" dirty="0" err="1">
                <a:solidFill>
                  <a:srgbClr val="000000"/>
                </a:solidFill>
                <a:cs typeface="Aptos"/>
              </a:rPr>
              <a:t>ConcreteFactory</a:t>
            </a:r>
            <a:r>
              <a:rPr lang="es-MX" dirty="0">
                <a:solidFill>
                  <a:srgbClr val="000000"/>
                </a:solidFill>
                <a:cs typeface="Aptos"/>
              </a:rPr>
              <a:t>: implementa los métodos de creación de productos concretos</a:t>
            </a:r>
            <a:endParaRPr lang="es-MX" dirty="0"/>
          </a:p>
          <a:p>
            <a:pPr>
              <a:spcBef>
                <a:spcPts val="999"/>
              </a:spcBef>
            </a:pPr>
            <a:r>
              <a:rPr lang="es-MX" dirty="0" err="1">
                <a:solidFill>
                  <a:srgbClr val="000000"/>
                </a:solidFill>
                <a:cs typeface="Aptos"/>
              </a:rPr>
              <a:t>AbstractProduct</a:t>
            </a:r>
            <a:r>
              <a:rPr lang="es-MX" dirty="0">
                <a:solidFill>
                  <a:srgbClr val="000000"/>
                </a:solidFill>
                <a:cs typeface="Aptos"/>
              </a:rPr>
              <a:t>: define las características base que toma un producto concreto</a:t>
            </a:r>
            <a:endParaRPr lang="es-MX" dirty="0"/>
          </a:p>
          <a:p>
            <a:pPr>
              <a:spcBef>
                <a:spcPts val="999"/>
              </a:spcBef>
            </a:pPr>
            <a:r>
              <a:rPr lang="es-MX" dirty="0" err="1">
                <a:solidFill>
                  <a:srgbClr val="000000"/>
                </a:solidFill>
                <a:cs typeface="Aptos"/>
              </a:rPr>
              <a:t>ConcreteProduct</a:t>
            </a:r>
            <a:r>
              <a:rPr lang="es-MX" dirty="0">
                <a:solidFill>
                  <a:srgbClr val="000000"/>
                </a:solidFill>
                <a:cs typeface="Aptos"/>
              </a:rPr>
              <a:t>: es el producto que hereda las características comunes, y es creado por la </a:t>
            </a:r>
            <a:r>
              <a:rPr lang="es-MX" dirty="0" err="1">
                <a:solidFill>
                  <a:srgbClr val="000000"/>
                </a:solidFill>
                <a:cs typeface="Aptos"/>
              </a:rPr>
              <a:t>ConcreteFactory</a:t>
            </a:r>
            <a:endParaRPr lang="es-MX" dirty="0"/>
          </a:p>
          <a:p>
            <a:endParaRPr lang="es-MX" dirty="0"/>
          </a:p>
        </p:txBody>
      </p:sp>
      <p:sp>
        <p:nvSpPr>
          <p:cNvPr id="7" name="CuadroTexto 6">
            <a:extLst>
              <a:ext uri="{FF2B5EF4-FFF2-40B4-BE49-F238E27FC236}">
                <a16:creationId xmlns:a16="http://schemas.microsoft.com/office/drawing/2014/main" id="{3558A921-A9DB-BDD7-C7CB-701EE88CF4FA}"/>
              </a:ext>
            </a:extLst>
          </p:cNvPr>
          <p:cNvSpPr txBox="1"/>
          <p:nvPr/>
        </p:nvSpPr>
        <p:spPr>
          <a:xfrm>
            <a:off x="1091380" y="5807631"/>
            <a:ext cx="2268570" cy="369332"/>
          </a:xfrm>
          <a:prstGeom prst="rect">
            <a:avLst/>
          </a:prstGeom>
          <a:noFill/>
        </p:spPr>
        <p:txBody>
          <a:bodyPr wrap="none" rtlCol="0">
            <a:spAutoFit/>
          </a:bodyPr>
          <a:lstStyle/>
          <a:p>
            <a:r>
              <a:rPr lang="es-MX" dirty="0">
                <a:solidFill>
                  <a:schemeClr val="tx1">
                    <a:lumMod val="75000"/>
                    <a:lumOff val="25000"/>
                  </a:schemeClr>
                </a:solidFill>
              </a:rPr>
              <a:t>(Gamma et al., 1994)</a:t>
            </a:r>
            <a:endParaRPr lang="es-MX" dirty="0"/>
          </a:p>
        </p:txBody>
      </p:sp>
    </p:spTree>
    <p:extLst>
      <p:ext uri="{BB962C8B-B14F-4D97-AF65-F5344CB8AC3E}">
        <p14:creationId xmlns:p14="http://schemas.microsoft.com/office/powerpoint/2010/main" val="6739547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A4C06-5C64-EF83-F115-8ABD25571E4E}"/>
            </a:ext>
          </a:extLst>
        </p:cNvPr>
        <p:cNvGrpSpPr/>
        <p:nvPr/>
      </p:nvGrpSpPr>
      <p:grpSpPr>
        <a:xfrm>
          <a:off x="0" y="0"/>
          <a:ext cx="0" cy="0"/>
          <a:chOff x="0" y="0"/>
          <a:chExt cx="0" cy="0"/>
        </a:xfrm>
      </p:grpSpPr>
      <p:sp>
        <p:nvSpPr>
          <p:cNvPr id="8" name="CuadroTexto 7">
            <a:extLst>
              <a:ext uri="{FF2B5EF4-FFF2-40B4-BE49-F238E27FC236}">
                <a16:creationId xmlns:a16="http://schemas.microsoft.com/office/drawing/2014/main" id="{D062D783-F83C-2040-7A42-2B96D4D37914}"/>
              </a:ext>
            </a:extLst>
          </p:cNvPr>
          <p:cNvSpPr txBox="1"/>
          <p:nvPr/>
        </p:nvSpPr>
        <p:spPr>
          <a:xfrm>
            <a:off x="339213" y="589934"/>
            <a:ext cx="3628103" cy="1569660"/>
          </a:xfrm>
          <a:prstGeom prst="rect">
            <a:avLst/>
          </a:prstGeom>
          <a:noFill/>
        </p:spPr>
        <p:txBody>
          <a:bodyPr wrap="square" rtlCol="0">
            <a:spAutoFit/>
          </a:bodyPr>
          <a:lstStyle/>
          <a:p>
            <a:r>
              <a:rPr lang="es-MX" sz="4800" dirty="0"/>
              <a:t>Diagrama de Clases</a:t>
            </a:r>
          </a:p>
        </p:txBody>
      </p:sp>
      <p:sp>
        <p:nvSpPr>
          <p:cNvPr id="9" name="CuadroTexto 8">
            <a:extLst>
              <a:ext uri="{FF2B5EF4-FFF2-40B4-BE49-F238E27FC236}">
                <a16:creationId xmlns:a16="http://schemas.microsoft.com/office/drawing/2014/main" id="{19C84F51-3028-9AFB-08B5-2BAB2C181123}"/>
              </a:ext>
            </a:extLst>
          </p:cNvPr>
          <p:cNvSpPr txBox="1"/>
          <p:nvPr/>
        </p:nvSpPr>
        <p:spPr>
          <a:xfrm>
            <a:off x="339213" y="2159594"/>
            <a:ext cx="2831690" cy="1200329"/>
          </a:xfrm>
          <a:prstGeom prst="rect">
            <a:avLst/>
          </a:prstGeom>
          <a:noFill/>
        </p:spPr>
        <p:txBody>
          <a:bodyPr wrap="square" rtlCol="0">
            <a:spAutoFit/>
          </a:bodyPr>
          <a:lstStyle/>
          <a:p>
            <a:r>
              <a:rPr lang="pt-BR" i="1" dirty="0">
                <a:solidFill>
                  <a:schemeClr val="tx1">
                    <a:lumMod val="65000"/>
                    <a:lumOff val="35000"/>
                  </a:schemeClr>
                </a:solidFill>
                <a:cs typeface="Aptos"/>
              </a:rPr>
              <a:t>Diagrama de Clases de Abstract Factory</a:t>
            </a:r>
            <a:r>
              <a:rPr lang="pt-BR" dirty="0">
                <a:solidFill>
                  <a:schemeClr val="tx1">
                    <a:lumMod val="65000"/>
                    <a:lumOff val="35000"/>
                  </a:schemeClr>
                </a:solidFill>
                <a:cs typeface="Aptos"/>
              </a:rPr>
              <a:t>, por Shvets, A., s.f., Refactoring.Guru </a:t>
            </a:r>
            <a:endParaRPr lang="pt-BR" dirty="0">
              <a:solidFill>
                <a:schemeClr val="tx1">
                  <a:lumMod val="65000"/>
                  <a:lumOff val="35000"/>
                </a:schemeClr>
              </a:solidFill>
            </a:endParaRPr>
          </a:p>
        </p:txBody>
      </p:sp>
      <p:pic>
        <p:nvPicPr>
          <p:cNvPr id="3" name="Imagen 2">
            <a:extLst>
              <a:ext uri="{FF2B5EF4-FFF2-40B4-BE49-F238E27FC236}">
                <a16:creationId xmlns:a16="http://schemas.microsoft.com/office/drawing/2014/main" id="{97530ABD-0A03-4E94-66F0-9959C90979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9120" y="288493"/>
            <a:ext cx="6494229" cy="6281013"/>
          </a:xfrm>
          <a:prstGeom prst="rect">
            <a:avLst/>
          </a:prstGeom>
        </p:spPr>
      </p:pic>
    </p:spTree>
    <p:extLst>
      <p:ext uri="{BB962C8B-B14F-4D97-AF65-F5344CB8AC3E}">
        <p14:creationId xmlns:p14="http://schemas.microsoft.com/office/powerpoint/2010/main" val="21717884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27DD3-5AB4-C2C1-B0CF-485973C8E468}"/>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C9F266E4-CEE3-5ED6-71C0-45DF007ED5E7}"/>
              </a:ext>
            </a:extLst>
          </p:cNvPr>
          <p:cNvSpPr>
            <a:spLocks noGrp="1"/>
          </p:cNvSpPr>
          <p:nvPr>
            <p:ph type="title"/>
          </p:nvPr>
        </p:nvSpPr>
        <p:spPr>
          <a:xfrm>
            <a:off x="838200" y="365126"/>
            <a:ext cx="10515600" cy="917984"/>
          </a:xfrm>
        </p:spPr>
        <p:txBody>
          <a:bodyPr/>
          <a:lstStyle/>
          <a:p>
            <a:r>
              <a:rPr lang="es-MX" dirty="0"/>
              <a:t>Relaciones entre los Participantes</a:t>
            </a:r>
          </a:p>
        </p:txBody>
      </p:sp>
      <p:sp>
        <p:nvSpPr>
          <p:cNvPr id="6" name="Marcador de contenido 5">
            <a:extLst>
              <a:ext uri="{FF2B5EF4-FFF2-40B4-BE49-F238E27FC236}">
                <a16:creationId xmlns:a16="http://schemas.microsoft.com/office/drawing/2014/main" id="{ECD6DD37-5E4F-345A-8F3B-416DE4AAB9E8}"/>
              </a:ext>
            </a:extLst>
          </p:cNvPr>
          <p:cNvSpPr>
            <a:spLocks noGrp="1"/>
          </p:cNvSpPr>
          <p:nvPr>
            <p:ph idx="1"/>
          </p:nvPr>
        </p:nvSpPr>
        <p:spPr>
          <a:xfrm>
            <a:off x="838200" y="1283110"/>
            <a:ext cx="10515600" cy="4893853"/>
          </a:xfrm>
        </p:spPr>
        <p:txBody>
          <a:bodyPr/>
          <a:lstStyle/>
          <a:p>
            <a:r>
              <a:rPr lang="es-MX" dirty="0"/>
              <a:t>Normalmente, se crea una única instancia de una clase </a:t>
            </a:r>
            <a:r>
              <a:rPr lang="es-MX" dirty="0" err="1"/>
              <a:t>ConcreteFactory</a:t>
            </a:r>
            <a:r>
              <a:rPr lang="es-MX" dirty="0"/>
              <a:t> en tiempo de ejecución. Esta fábrica concreta crea objetos de producto que tienen una implementación particular. Para crear objetos de producto diferentes, los clientes deben utilizar una fábrica concreta diferente.</a:t>
            </a:r>
          </a:p>
          <a:p>
            <a:r>
              <a:rPr lang="es-MX" dirty="0" err="1"/>
              <a:t>AbstractFactory</a:t>
            </a:r>
            <a:r>
              <a:rPr lang="es-MX" dirty="0"/>
              <a:t> delega la creación de objetos de producto a su subclase </a:t>
            </a:r>
            <a:r>
              <a:rPr lang="es-MX" dirty="0" err="1"/>
              <a:t>ConcreteFactory</a:t>
            </a:r>
            <a:r>
              <a:rPr lang="es-MX" dirty="0"/>
              <a:t>.</a:t>
            </a:r>
          </a:p>
        </p:txBody>
      </p:sp>
      <p:sp>
        <p:nvSpPr>
          <p:cNvPr id="2" name="CuadroTexto 1">
            <a:extLst>
              <a:ext uri="{FF2B5EF4-FFF2-40B4-BE49-F238E27FC236}">
                <a16:creationId xmlns:a16="http://schemas.microsoft.com/office/drawing/2014/main" id="{48BCF39A-9B62-ABAD-28AC-D30DD1B9D8E5}"/>
              </a:ext>
            </a:extLst>
          </p:cNvPr>
          <p:cNvSpPr txBox="1"/>
          <p:nvPr/>
        </p:nvSpPr>
        <p:spPr>
          <a:xfrm>
            <a:off x="1091380" y="5807631"/>
            <a:ext cx="2268570" cy="369332"/>
          </a:xfrm>
          <a:prstGeom prst="rect">
            <a:avLst/>
          </a:prstGeom>
          <a:noFill/>
        </p:spPr>
        <p:txBody>
          <a:bodyPr wrap="none" rtlCol="0">
            <a:spAutoFit/>
          </a:bodyPr>
          <a:lstStyle/>
          <a:p>
            <a:r>
              <a:rPr lang="es-MX" dirty="0">
                <a:solidFill>
                  <a:schemeClr val="tx1">
                    <a:lumMod val="75000"/>
                    <a:lumOff val="25000"/>
                  </a:schemeClr>
                </a:solidFill>
              </a:rPr>
              <a:t>(Gamma et al., 1994)</a:t>
            </a:r>
            <a:endParaRPr lang="es-MX" dirty="0"/>
          </a:p>
        </p:txBody>
      </p:sp>
    </p:spTree>
    <p:extLst>
      <p:ext uri="{BB962C8B-B14F-4D97-AF65-F5344CB8AC3E}">
        <p14:creationId xmlns:p14="http://schemas.microsoft.com/office/powerpoint/2010/main" val="8145470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F1299-B080-B02A-B92A-E2DE7297E736}"/>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02DD5D21-1ACA-5100-1655-B7BE4FA41FD8}"/>
              </a:ext>
            </a:extLst>
          </p:cNvPr>
          <p:cNvSpPr txBox="1"/>
          <p:nvPr/>
        </p:nvSpPr>
        <p:spPr>
          <a:xfrm>
            <a:off x="339213" y="589934"/>
            <a:ext cx="3628103" cy="1569660"/>
          </a:xfrm>
          <a:prstGeom prst="rect">
            <a:avLst/>
          </a:prstGeom>
          <a:noFill/>
        </p:spPr>
        <p:txBody>
          <a:bodyPr wrap="square" rtlCol="0">
            <a:spAutoFit/>
          </a:bodyPr>
          <a:lstStyle/>
          <a:p>
            <a:r>
              <a:rPr lang="es-MX" sz="4800" dirty="0"/>
              <a:t>Diagrama de Secuencia</a:t>
            </a:r>
          </a:p>
        </p:txBody>
      </p:sp>
      <p:sp>
        <p:nvSpPr>
          <p:cNvPr id="7" name="CuadroTexto 6">
            <a:extLst>
              <a:ext uri="{FF2B5EF4-FFF2-40B4-BE49-F238E27FC236}">
                <a16:creationId xmlns:a16="http://schemas.microsoft.com/office/drawing/2014/main" id="{627C548D-1A30-26B8-2CC4-C916C75513EE}"/>
              </a:ext>
            </a:extLst>
          </p:cNvPr>
          <p:cNvSpPr txBox="1"/>
          <p:nvPr/>
        </p:nvSpPr>
        <p:spPr>
          <a:xfrm>
            <a:off x="412955" y="2271252"/>
            <a:ext cx="3790335" cy="1200329"/>
          </a:xfrm>
          <a:prstGeom prst="rect">
            <a:avLst/>
          </a:prstGeom>
          <a:noFill/>
        </p:spPr>
        <p:txBody>
          <a:bodyPr wrap="square" rtlCol="0">
            <a:spAutoFit/>
          </a:bodyPr>
          <a:lstStyle/>
          <a:p>
            <a:r>
              <a:rPr lang="es-MX" dirty="0">
                <a:solidFill>
                  <a:schemeClr val="tx1">
                    <a:lumMod val="65000"/>
                    <a:lumOff val="35000"/>
                  </a:schemeClr>
                </a:solidFill>
                <a:cs typeface="Aptos"/>
              </a:rPr>
              <a:t>Diagrama de secuencia adaptado del Patrón de Diseño </a:t>
            </a:r>
            <a:r>
              <a:rPr lang="es-MX" dirty="0" err="1">
                <a:solidFill>
                  <a:schemeClr val="tx1">
                    <a:lumMod val="65000"/>
                    <a:lumOff val="35000"/>
                  </a:schemeClr>
                </a:solidFill>
                <a:cs typeface="Aptos"/>
              </a:rPr>
              <a:t>Abstract</a:t>
            </a:r>
            <a:r>
              <a:rPr lang="es-MX" dirty="0">
                <a:solidFill>
                  <a:schemeClr val="tx1">
                    <a:lumMod val="65000"/>
                    <a:lumOff val="35000"/>
                  </a:schemeClr>
                </a:solidFill>
                <a:cs typeface="Aptos"/>
              </a:rPr>
              <a:t> Factory, por ReactiveProgramming.io, 2021</a:t>
            </a:r>
            <a:endParaRPr lang="es-MX" dirty="0">
              <a:solidFill>
                <a:schemeClr val="tx1">
                  <a:lumMod val="65000"/>
                  <a:lumOff val="35000"/>
                </a:schemeClr>
              </a:solidFill>
            </a:endParaRPr>
          </a:p>
        </p:txBody>
      </p:sp>
      <p:pic>
        <p:nvPicPr>
          <p:cNvPr id="3" name="Imagen 2">
            <a:extLst>
              <a:ext uri="{FF2B5EF4-FFF2-40B4-BE49-F238E27FC236}">
                <a16:creationId xmlns:a16="http://schemas.microsoft.com/office/drawing/2014/main" id="{8D8597DF-F2E0-E0D9-CCB7-13E8440375EE}"/>
              </a:ext>
            </a:extLst>
          </p:cNvPr>
          <p:cNvPicPr>
            <a:picLocks noChangeAspect="1"/>
          </p:cNvPicPr>
          <p:nvPr/>
        </p:nvPicPr>
        <p:blipFill>
          <a:blip r:embed="rId2"/>
          <a:stretch>
            <a:fillRect/>
          </a:stretch>
        </p:blipFill>
        <p:spPr>
          <a:xfrm>
            <a:off x="4252451" y="589934"/>
            <a:ext cx="7035394" cy="5346655"/>
          </a:xfrm>
          <a:prstGeom prst="rect">
            <a:avLst/>
          </a:prstGeom>
        </p:spPr>
      </p:pic>
    </p:spTree>
    <p:extLst>
      <p:ext uri="{BB962C8B-B14F-4D97-AF65-F5344CB8AC3E}">
        <p14:creationId xmlns:p14="http://schemas.microsoft.com/office/powerpoint/2010/main" val="39151574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348E7-3334-6B1C-AE51-383521DA4342}"/>
            </a:ext>
          </a:extLst>
        </p:cNvPr>
        <p:cNvGrpSpPr/>
        <p:nvPr/>
      </p:nvGrpSpPr>
      <p:grpSpPr>
        <a:xfrm>
          <a:off x="0" y="0"/>
          <a:ext cx="0" cy="0"/>
          <a:chOff x="0" y="0"/>
          <a:chExt cx="0" cy="0"/>
        </a:xfrm>
      </p:grpSpPr>
      <p:graphicFrame>
        <p:nvGraphicFramePr>
          <p:cNvPr id="4" name="Marcador de contenido 3">
            <a:extLst>
              <a:ext uri="{FF2B5EF4-FFF2-40B4-BE49-F238E27FC236}">
                <a16:creationId xmlns:a16="http://schemas.microsoft.com/office/drawing/2014/main" id="{1EED01D2-FD85-AD2E-1149-5C8A57D17763}"/>
              </a:ext>
            </a:extLst>
          </p:cNvPr>
          <p:cNvGraphicFramePr>
            <a:graphicFrameLocks/>
          </p:cNvGraphicFramePr>
          <p:nvPr>
            <p:extLst>
              <p:ext uri="{D42A27DB-BD31-4B8C-83A1-F6EECF244321}">
                <p14:modId xmlns:p14="http://schemas.microsoft.com/office/powerpoint/2010/main" val="2059847369"/>
              </p:ext>
            </p:extLst>
          </p:nvPr>
        </p:nvGraphicFramePr>
        <p:xfrm>
          <a:off x="836732" y="699998"/>
          <a:ext cx="10518536" cy="4937760"/>
        </p:xfrm>
        <a:graphic>
          <a:graphicData uri="http://schemas.openxmlformats.org/drawingml/2006/table">
            <a:tbl>
              <a:tblPr/>
              <a:tblGrid>
                <a:gridCol w="5259268">
                  <a:extLst>
                    <a:ext uri="{9D8B030D-6E8A-4147-A177-3AD203B41FA5}">
                      <a16:colId xmlns:a16="http://schemas.microsoft.com/office/drawing/2014/main" val="20000"/>
                    </a:ext>
                  </a:extLst>
                </a:gridCol>
                <a:gridCol w="5259268">
                  <a:extLst>
                    <a:ext uri="{9D8B030D-6E8A-4147-A177-3AD203B41FA5}">
                      <a16:colId xmlns:a16="http://schemas.microsoft.com/office/drawing/2014/main" val="20001"/>
                    </a:ext>
                  </a:extLst>
                </a:gridCol>
              </a:tblGrid>
              <a:tr h="370840">
                <a:tc>
                  <a:txBody>
                    <a:bodyPr/>
                    <a:lstStyle/>
                    <a:p>
                      <a:r>
                        <a:rPr lang="es-MX" sz="2400" strike="noStrike"/>
                        <a:t>Ventajas</a:t>
                      </a:r>
                      <a:endParaRPr sz="2400"/>
                    </a:p>
                  </a:txBody>
                  <a:tcPr>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r>
                        <a:rPr lang="es-MX" sz="2400" strike="noStrike"/>
                        <a:t>Desventajas</a:t>
                      </a:r>
                      <a:endParaRPr sz="2400"/>
                    </a:p>
                  </a:txBody>
                  <a:tcPr>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extLst>
                  <a:ext uri="{0D108BD9-81ED-4DB2-BD59-A6C34878D82A}">
                    <a16:rowId xmlns:a16="http://schemas.microsoft.com/office/drawing/2014/main" val="10000"/>
                  </a:ext>
                </a:extLst>
              </a:tr>
              <a:tr h="370840">
                <a:tc>
                  <a:txBody>
                    <a:bodyPr/>
                    <a:lstStyle/>
                    <a:p>
                      <a:pPr marL="393700" lvl="0" indent="-342899">
                        <a:buSzPct val="100000"/>
                        <a:buFont typeface="Arial"/>
                        <a:buChar char="•"/>
                      </a:pPr>
                      <a:r>
                        <a:rPr lang="es-MX" sz="2400" strike="noStrike" dirty="0"/>
                        <a:t>Engloba objetos con características similares para evitar la duplicación de código.</a:t>
                      </a:r>
                      <a:endParaRPr sz="2400" dirty="0"/>
                    </a:p>
                    <a:p>
                      <a:pPr marL="393700" lvl="0" indent="-342899">
                        <a:buSzPct val="100000"/>
                        <a:buFont typeface="Arial"/>
                        <a:buChar char="•"/>
                      </a:pPr>
                      <a:r>
                        <a:rPr lang="es-MX" sz="2400" strike="noStrike" dirty="0"/>
                        <a:t>El cliente sólo interactúa con la fábrica.</a:t>
                      </a:r>
                      <a:endParaRPr sz="2400" dirty="0"/>
                    </a:p>
                    <a:p>
                      <a:pPr marL="393700" lvl="0" indent="-342899">
                        <a:buSzPct val="100000"/>
                        <a:buFont typeface="Arial"/>
                        <a:buChar char="•"/>
                      </a:pPr>
                      <a:r>
                        <a:rPr lang="es-MX" sz="2400" strike="noStrike" dirty="0"/>
                        <a:t>Mantiene la cohesión entre los objetos resultantes.</a:t>
                      </a:r>
                      <a:endParaRPr sz="2400" dirty="0"/>
                    </a:p>
                    <a:p>
                      <a:pPr marL="393700" lvl="0" indent="-342899">
                        <a:buSzPct val="100000"/>
                        <a:buFont typeface="Arial"/>
                        <a:buChar char="•"/>
                      </a:pPr>
                      <a:r>
                        <a:rPr lang="es-ES" sz="2400" u="none" spc="0" dirty="0">
                          <a:solidFill>
                            <a:srgbClr val="000000"/>
                          </a:solidFill>
                          <a:latin typeface="Arial"/>
                          <a:cs typeface="Arial"/>
                        </a:rPr>
                        <a:t>P</a:t>
                      </a:r>
                      <a:r>
                        <a:rPr lang="es-MX" sz="2400" u="none" spc="0" dirty="0">
                          <a:solidFill>
                            <a:srgbClr val="000000"/>
                          </a:solidFill>
                          <a:latin typeface="Arial"/>
                          <a:cs typeface="Arial"/>
                        </a:rPr>
                        <a:t>arte del diseño queda desacoplada</a:t>
                      </a:r>
                      <a:r>
                        <a:rPr lang="es-ES" sz="2400" strike="noStrike" dirty="0"/>
                        <a:t>: La lógica de construcción que ve el cliente de la instanciación real.</a:t>
                      </a:r>
                      <a:endParaRPr sz="2400" dirty="0"/>
                    </a:p>
                    <a:p>
                      <a:endParaRPr sz="2400" dirty="0"/>
                    </a:p>
                  </a:txBody>
                  <a:tcPr>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marL="388112" lvl="0" indent="-350011">
                        <a:buSzPct val="100000"/>
                        <a:buFont typeface="Arial"/>
                        <a:buChar char="•"/>
                      </a:pPr>
                      <a:r>
                        <a:rPr lang="es-MX" sz="2400" strike="noStrike" dirty="0"/>
                        <a:t>La abstracción puede complicarse cuando no se encuentran características en común</a:t>
                      </a:r>
                      <a:endParaRPr sz="2400" dirty="0"/>
                    </a:p>
                    <a:p>
                      <a:pPr marL="388112" lvl="0" indent="-350011">
                        <a:buSzPct val="100000"/>
                        <a:buFont typeface="Arial"/>
                        <a:buChar char="•"/>
                      </a:pPr>
                      <a:r>
                        <a:rPr lang="es-MX" sz="2400" strike="noStrike" dirty="0"/>
                        <a:t>Sólo aplica a situaciones donde se agrupan objetos.</a:t>
                      </a:r>
                      <a:endParaRPr sz="2400" dirty="0"/>
                    </a:p>
                  </a:txBody>
                  <a:tcPr>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extLst>
                  <a:ext uri="{0D108BD9-81ED-4DB2-BD59-A6C34878D82A}">
                    <a16:rowId xmlns:a16="http://schemas.microsoft.com/office/drawing/2014/main" val="10001"/>
                  </a:ext>
                </a:extLst>
              </a:tr>
            </a:tbl>
          </a:graphicData>
        </a:graphic>
      </p:graphicFrame>
      <p:sp>
        <p:nvSpPr>
          <p:cNvPr id="3" name="CuadroTexto 2">
            <a:extLst>
              <a:ext uri="{FF2B5EF4-FFF2-40B4-BE49-F238E27FC236}">
                <a16:creationId xmlns:a16="http://schemas.microsoft.com/office/drawing/2014/main" id="{C07E894B-EBA3-1B62-50C2-71E63ADE4F15}"/>
              </a:ext>
            </a:extLst>
          </p:cNvPr>
          <p:cNvSpPr txBox="1"/>
          <p:nvPr/>
        </p:nvSpPr>
        <p:spPr>
          <a:xfrm>
            <a:off x="836732" y="5788670"/>
            <a:ext cx="6098458" cy="369332"/>
          </a:xfrm>
          <a:prstGeom prst="rect">
            <a:avLst/>
          </a:prstGeom>
          <a:noFill/>
        </p:spPr>
        <p:txBody>
          <a:bodyPr wrap="square">
            <a:spAutoFit/>
          </a:bodyPr>
          <a:lstStyle/>
          <a:p>
            <a:pPr>
              <a:defRPr/>
            </a:pPr>
            <a:r>
              <a:rPr lang="es-MX" dirty="0">
                <a:solidFill>
                  <a:schemeClr val="tx1">
                    <a:lumMod val="65000"/>
                    <a:lumOff val="35000"/>
                  </a:schemeClr>
                </a:solidFill>
              </a:rPr>
              <a:t>(</a:t>
            </a:r>
            <a:r>
              <a:rPr lang="es-MX" dirty="0" err="1">
                <a:solidFill>
                  <a:schemeClr val="tx1">
                    <a:lumMod val="65000"/>
                    <a:lumOff val="35000"/>
                  </a:schemeClr>
                </a:solidFill>
              </a:rPr>
              <a:t>Refactoring.Guru</a:t>
            </a:r>
            <a:r>
              <a:rPr lang="es-MX" dirty="0">
                <a:solidFill>
                  <a:schemeClr val="tx1">
                    <a:lumMod val="65000"/>
                    <a:lumOff val="35000"/>
                  </a:schemeClr>
                </a:solidFill>
              </a:rPr>
              <a:t>, 2026)</a:t>
            </a:r>
          </a:p>
        </p:txBody>
      </p:sp>
    </p:spTree>
    <p:extLst>
      <p:ext uri="{BB962C8B-B14F-4D97-AF65-F5344CB8AC3E}">
        <p14:creationId xmlns:p14="http://schemas.microsoft.com/office/powerpoint/2010/main" val="35015925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5AB2D-854F-60C1-2092-EDF140596FD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77F551DC-2759-2CD3-E350-9827F895E577}"/>
              </a:ext>
            </a:extLst>
          </p:cNvPr>
          <p:cNvSpPr txBox="1"/>
          <p:nvPr/>
        </p:nvSpPr>
        <p:spPr>
          <a:xfrm>
            <a:off x="3537155" y="4543802"/>
            <a:ext cx="6098458" cy="646331"/>
          </a:xfrm>
          <a:prstGeom prst="rect">
            <a:avLst/>
          </a:prstGeom>
          <a:noFill/>
        </p:spPr>
        <p:txBody>
          <a:bodyPr wrap="square">
            <a:spAutoFit/>
          </a:bodyPr>
          <a:lstStyle/>
          <a:p>
            <a:pPr>
              <a:defRPr/>
            </a:pPr>
            <a:r>
              <a:rPr lang="es-MX" dirty="0">
                <a:solidFill>
                  <a:schemeClr val="tx1">
                    <a:lumMod val="65000"/>
                    <a:lumOff val="35000"/>
                  </a:schemeClr>
                </a:solidFill>
              </a:rPr>
              <a:t>(Ejemplo de construcción de un conversor de formato RTF. Adaptado de Gamma et al. (1994, p. 104).")</a:t>
            </a:r>
          </a:p>
        </p:txBody>
      </p:sp>
      <p:sp>
        <p:nvSpPr>
          <p:cNvPr id="4" name="Título 3">
            <a:extLst>
              <a:ext uri="{FF2B5EF4-FFF2-40B4-BE49-F238E27FC236}">
                <a16:creationId xmlns:a16="http://schemas.microsoft.com/office/drawing/2014/main" id="{DA0E5761-B5CD-F758-AAFA-7E3DB208C449}"/>
              </a:ext>
            </a:extLst>
          </p:cNvPr>
          <p:cNvSpPr>
            <a:spLocks noGrp="1"/>
          </p:cNvSpPr>
          <p:nvPr>
            <p:ph type="title"/>
          </p:nvPr>
        </p:nvSpPr>
        <p:spPr/>
        <p:txBody>
          <a:bodyPr/>
          <a:lstStyle/>
          <a:p>
            <a:r>
              <a:rPr lang="es-MX" dirty="0"/>
              <a:t>Usos Conocidos</a:t>
            </a:r>
          </a:p>
        </p:txBody>
      </p:sp>
      <p:sp>
        <p:nvSpPr>
          <p:cNvPr id="5" name="Marcador de contenido 4">
            <a:extLst>
              <a:ext uri="{FF2B5EF4-FFF2-40B4-BE49-F238E27FC236}">
                <a16:creationId xmlns:a16="http://schemas.microsoft.com/office/drawing/2014/main" id="{42112D22-121E-65FA-4ADC-D887DAB997DA}"/>
              </a:ext>
            </a:extLst>
          </p:cNvPr>
          <p:cNvSpPr>
            <a:spLocks noGrp="1"/>
          </p:cNvSpPr>
          <p:nvPr>
            <p:ph idx="1"/>
          </p:nvPr>
        </p:nvSpPr>
        <p:spPr>
          <a:xfrm>
            <a:off x="838200" y="1825625"/>
            <a:ext cx="10515600" cy="3041343"/>
          </a:xfrm>
        </p:spPr>
        <p:txBody>
          <a:bodyPr/>
          <a:lstStyle/>
          <a:p>
            <a:pPr marL="336550" lvl="0" indent="-285749">
              <a:buSzPct val="100000"/>
              <a:buFont typeface="Arial"/>
              <a:buChar char="•"/>
            </a:pPr>
            <a:r>
              <a:rPr lang="es-MX" dirty="0">
                <a:solidFill>
                  <a:srgbClr val="000000"/>
                </a:solidFill>
                <a:cs typeface="Aptos"/>
              </a:rPr>
              <a:t>Elegir llamar a la implementación correcta de </a:t>
            </a:r>
            <a:r>
              <a:rPr lang="es-MX" dirty="0" err="1">
                <a:solidFill>
                  <a:srgbClr val="000000"/>
                </a:solidFill>
                <a:cs typeface="Aptos"/>
              </a:rPr>
              <a:t>FileSystemAcmeService</a:t>
            </a:r>
            <a:r>
              <a:rPr lang="es-MX" dirty="0">
                <a:solidFill>
                  <a:srgbClr val="000000"/>
                </a:solidFill>
                <a:cs typeface="Aptos"/>
              </a:rPr>
              <a:t> o </a:t>
            </a:r>
            <a:r>
              <a:rPr lang="es-MX" dirty="0" err="1">
                <a:solidFill>
                  <a:srgbClr val="000000"/>
                </a:solidFill>
                <a:cs typeface="Aptos"/>
              </a:rPr>
              <a:t>DatabaseAcmeService</a:t>
            </a:r>
            <a:r>
              <a:rPr lang="es-MX" dirty="0">
                <a:solidFill>
                  <a:srgbClr val="000000"/>
                </a:solidFill>
                <a:cs typeface="Aptos"/>
              </a:rPr>
              <a:t> o </a:t>
            </a:r>
            <a:r>
              <a:rPr lang="es-MX" dirty="0" err="1">
                <a:solidFill>
                  <a:srgbClr val="000000"/>
                </a:solidFill>
                <a:cs typeface="Aptos"/>
              </a:rPr>
              <a:t>NetworkAcmeService</a:t>
            </a:r>
            <a:r>
              <a:rPr lang="es-MX" dirty="0">
                <a:solidFill>
                  <a:srgbClr val="000000"/>
                </a:solidFill>
                <a:cs typeface="Aptos"/>
              </a:rPr>
              <a:t> en tiempo de ejecución.</a:t>
            </a:r>
            <a:endParaRPr lang="es-MX" dirty="0"/>
          </a:p>
          <a:p>
            <a:pPr marL="336550" lvl="0" indent="-285749">
              <a:buSzPct val="100000"/>
              <a:buFont typeface="Arial"/>
              <a:buChar char="•"/>
            </a:pPr>
            <a:r>
              <a:rPr lang="es-MX" dirty="0">
                <a:solidFill>
                  <a:srgbClr val="000000"/>
                </a:solidFill>
                <a:cs typeface="Aptos"/>
              </a:rPr>
              <a:t>Escribir test unitarios se hace mucho más sencillo.</a:t>
            </a:r>
            <a:endParaRPr lang="es-MX" dirty="0"/>
          </a:p>
          <a:p>
            <a:pPr marL="336550" lvl="0" indent="-285749">
              <a:buSzPct val="100000"/>
              <a:buFont typeface="Arial"/>
              <a:buChar char="•"/>
            </a:pPr>
            <a:r>
              <a:rPr lang="es-MX" dirty="0">
                <a:solidFill>
                  <a:srgbClr val="000000"/>
                </a:solidFill>
                <a:cs typeface="Aptos"/>
              </a:rPr>
              <a:t>Cuando te conectas a una aplicación web, esta detecta tu sistema operativo, eligiendo así la apariencia de los componentes. </a:t>
            </a:r>
            <a:endParaRPr lang="es-MX" sz="1400" dirty="0"/>
          </a:p>
          <a:p>
            <a:pPr marL="0" indent="0">
              <a:buNone/>
            </a:pPr>
            <a:endParaRPr lang="es-MX" dirty="0"/>
          </a:p>
        </p:txBody>
      </p:sp>
      <p:sp>
        <p:nvSpPr>
          <p:cNvPr id="2" name="CuadroTexto 1">
            <a:extLst>
              <a:ext uri="{FF2B5EF4-FFF2-40B4-BE49-F238E27FC236}">
                <a16:creationId xmlns:a16="http://schemas.microsoft.com/office/drawing/2014/main" id="{742BBA48-7922-BD56-0E1C-D8AF68E708D8}"/>
              </a:ext>
            </a:extLst>
          </p:cNvPr>
          <p:cNvSpPr txBox="1"/>
          <p:nvPr/>
        </p:nvSpPr>
        <p:spPr>
          <a:xfrm>
            <a:off x="1135849" y="5784330"/>
            <a:ext cx="2268570" cy="369332"/>
          </a:xfrm>
          <a:prstGeom prst="rect">
            <a:avLst/>
          </a:prstGeom>
          <a:noFill/>
        </p:spPr>
        <p:txBody>
          <a:bodyPr wrap="none" rtlCol="0">
            <a:spAutoFit/>
          </a:bodyPr>
          <a:lstStyle/>
          <a:p>
            <a:r>
              <a:rPr lang="es-MX" dirty="0">
                <a:solidFill>
                  <a:schemeClr val="tx1">
                    <a:lumMod val="75000"/>
                    <a:lumOff val="25000"/>
                  </a:schemeClr>
                </a:solidFill>
              </a:rPr>
              <a:t>(Gamma et al., 1994)</a:t>
            </a:r>
            <a:endParaRPr lang="es-MX" dirty="0"/>
          </a:p>
        </p:txBody>
      </p:sp>
    </p:spTree>
    <p:extLst>
      <p:ext uri="{BB962C8B-B14F-4D97-AF65-F5344CB8AC3E}">
        <p14:creationId xmlns:p14="http://schemas.microsoft.com/office/powerpoint/2010/main" val="31305422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noGroup">
          <a:extLst>
            <a:ext uri="{FF2B5EF4-FFF2-40B4-BE49-F238E27FC236}">
              <a16:creationId xmlns:a16="http://schemas.microsoft.com/office/drawing/2014/main" id="{059366E8-9AB4-0F77-8999-22A386543B6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ADCA70F-067A-59B8-1996-E4ED6D77EB72}"/>
              </a:ext>
            </a:extLst>
          </p:cNvPr>
          <p:cNvSpPr txBox="1">
            <a:spLocks noGrp="1"/>
          </p:cNvSpPr>
          <p:nvPr>
            <p:ph type="title" idx="4294967295"/>
          </p:nvPr>
        </p:nvSpPr>
        <p:spPr>
          <a:xfrm>
            <a:off x="838027" y="365017"/>
            <a:ext cx="10514937" cy="1325436"/>
          </a:xfrm>
          <a:prstGeom prst="rect">
            <a:avLst/>
          </a:prstGeom>
          <a:noFill/>
          <a:ln>
            <a:noFill/>
          </a:ln>
          <a:effectLst/>
        </p:spPr>
        <p:txBody>
          <a:bodyPr lIns="91440" tIns="45720" rIns="91440" bIns="45720" anchor="ctr"/>
          <a:lstStyle/>
          <a:p>
            <a:pPr marL="0" marR="0" indent="0" algn="l">
              <a:lnSpc>
                <a:spcPct val="90000"/>
              </a:lnSpc>
              <a:spcBef>
                <a:spcPts val="0"/>
              </a:spcBef>
              <a:spcAft>
                <a:spcPts val="0"/>
              </a:spcAft>
            </a:pPr>
            <a:r>
              <a:rPr lang="es-MX" sz="4400" u="none" spc="0" dirty="0">
                <a:solidFill>
                  <a:srgbClr val="000000"/>
                </a:solidFill>
                <a:latin typeface="Aptos Display"/>
                <a:cs typeface="Aptos Display"/>
              </a:rPr>
              <a:t>PATRONES RELACIONADOS</a:t>
            </a:r>
            <a:endParaRPr dirty="0"/>
          </a:p>
        </p:txBody>
      </p:sp>
      <p:sp>
        <p:nvSpPr>
          <p:cNvPr id="3" name="Marcador de contenido 2">
            <a:extLst>
              <a:ext uri="{FF2B5EF4-FFF2-40B4-BE49-F238E27FC236}">
                <a16:creationId xmlns:a16="http://schemas.microsoft.com/office/drawing/2014/main" id="{721B75DB-642F-9BB5-DF76-178762B1B8AD}"/>
              </a:ext>
            </a:extLst>
          </p:cNvPr>
          <p:cNvSpPr txBox="1">
            <a:spLocks noGrp="1"/>
          </p:cNvSpPr>
          <p:nvPr>
            <p:ph idx="4294967295"/>
          </p:nvPr>
        </p:nvSpPr>
        <p:spPr>
          <a:xfrm>
            <a:off x="838027" y="1825804"/>
            <a:ext cx="10514937" cy="4352125"/>
          </a:xfrm>
          <a:prstGeom prst="rect">
            <a:avLst/>
          </a:prstGeom>
          <a:noFill/>
          <a:ln>
            <a:noFill/>
          </a:ln>
          <a:effectLst/>
        </p:spPr>
        <p:txBody>
          <a:bodyPr lIns="91440" tIns="45720" rIns="91440" bIns="45720" anchor="t"/>
          <a:lstStyle/>
          <a:p>
            <a:pPr marL="279400" lvl="0" indent="-228599">
              <a:buSzPct val="100000"/>
              <a:buFont typeface="Arial"/>
              <a:buChar char="•"/>
            </a:pPr>
            <a:r>
              <a:rPr lang="es-MX" b="1" dirty="0">
                <a:solidFill>
                  <a:srgbClr val="000000"/>
                </a:solidFill>
                <a:cs typeface="Aptos"/>
              </a:rPr>
              <a:t>Factory </a:t>
            </a:r>
            <a:r>
              <a:rPr lang="es-MX" b="1" dirty="0" err="1">
                <a:solidFill>
                  <a:srgbClr val="000000"/>
                </a:solidFill>
                <a:cs typeface="Aptos"/>
              </a:rPr>
              <a:t>method</a:t>
            </a:r>
            <a:r>
              <a:rPr lang="es-MX" b="1" dirty="0">
                <a:solidFill>
                  <a:srgbClr val="000000"/>
                </a:solidFill>
                <a:cs typeface="Aptos"/>
              </a:rPr>
              <a:t>: </a:t>
            </a:r>
            <a:r>
              <a:rPr lang="es-MX" dirty="0">
                <a:solidFill>
                  <a:srgbClr val="000000"/>
                </a:solidFill>
                <a:cs typeface="Aptos"/>
              </a:rPr>
              <a:t>Es patrón precede para la creación del patrón </a:t>
            </a:r>
            <a:r>
              <a:rPr lang="es-MX" dirty="0" err="1">
                <a:solidFill>
                  <a:srgbClr val="000000"/>
                </a:solidFill>
                <a:cs typeface="Aptos"/>
              </a:rPr>
              <a:t>Abstract</a:t>
            </a:r>
            <a:r>
              <a:rPr lang="es-MX" dirty="0">
                <a:solidFill>
                  <a:srgbClr val="000000"/>
                </a:solidFill>
                <a:cs typeface="Aptos"/>
              </a:rPr>
              <a:t> Factory donde también se implementan métodos.</a:t>
            </a:r>
            <a:endParaRPr lang="es-MX" dirty="0"/>
          </a:p>
          <a:p>
            <a:pPr marL="279400" lvl="0" indent="-228599">
              <a:buSzPct val="100000"/>
              <a:buFont typeface="Arial"/>
              <a:buChar char="•"/>
            </a:pPr>
            <a:r>
              <a:rPr lang="es-MX" b="1" dirty="0">
                <a:solidFill>
                  <a:srgbClr val="000000"/>
                </a:solidFill>
                <a:cs typeface="Aptos"/>
              </a:rPr>
              <a:t>Singleton: </a:t>
            </a:r>
            <a:r>
              <a:rPr lang="es-MX" dirty="0">
                <a:solidFill>
                  <a:srgbClr val="000000"/>
                </a:solidFill>
                <a:cs typeface="Aptos"/>
              </a:rPr>
              <a:t>En el caso de </a:t>
            </a:r>
            <a:r>
              <a:rPr lang="es-MX" dirty="0" err="1">
                <a:solidFill>
                  <a:srgbClr val="000000"/>
                </a:solidFill>
                <a:cs typeface="Aptos"/>
              </a:rPr>
              <a:t>AbstractFactory</a:t>
            </a:r>
            <a:r>
              <a:rPr lang="es-MX" dirty="0">
                <a:solidFill>
                  <a:srgbClr val="000000"/>
                </a:solidFill>
                <a:cs typeface="Aptos"/>
              </a:rPr>
              <a:t> porque sólo necesitamos una interfaz con la que el cliente interactúe.</a:t>
            </a:r>
            <a:endParaRPr lang="es-MX" dirty="0"/>
          </a:p>
          <a:p>
            <a:pPr marL="279400" lvl="0" indent="-228599">
              <a:spcBef>
                <a:spcPts val="999"/>
              </a:spcBef>
              <a:buSzPct val="100000"/>
              <a:buFont typeface="Arial"/>
              <a:buChar char="•"/>
            </a:pPr>
            <a:r>
              <a:rPr lang="es-MX" b="1" dirty="0" err="1">
                <a:solidFill>
                  <a:srgbClr val="000000"/>
                </a:solidFill>
                <a:cs typeface="Aptos"/>
              </a:rPr>
              <a:t>Prototype</a:t>
            </a:r>
            <a:r>
              <a:rPr lang="es-MX" b="1" dirty="0">
                <a:solidFill>
                  <a:srgbClr val="000000"/>
                </a:solidFill>
                <a:cs typeface="Aptos"/>
              </a:rPr>
              <a:t>: </a:t>
            </a:r>
            <a:r>
              <a:rPr lang="es-MX" dirty="0">
                <a:solidFill>
                  <a:srgbClr val="000000"/>
                </a:solidFill>
                <a:cs typeface="Aptos"/>
              </a:rPr>
              <a:t>Se puede utilizar para definir los métodos de las clases de </a:t>
            </a:r>
            <a:r>
              <a:rPr lang="es-MX" dirty="0" err="1">
                <a:solidFill>
                  <a:srgbClr val="000000"/>
                </a:solidFill>
                <a:cs typeface="Aptos"/>
              </a:rPr>
              <a:t>Abstract</a:t>
            </a:r>
            <a:r>
              <a:rPr lang="es-MX" dirty="0">
                <a:solidFill>
                  <a:srgbClr val="000000"/>
                </a:solidFill>
                <a:cs typeface="Aptos"/>
              </a:rPr>
              <a:t> Factory</a:t>
            </a:r>
            <a:endParaRPr lang="es-MX" dirty="0"/>
          </a:p>
          <a:p>
            <a:pPr marL="38101" marR="0" indent="0" algn="l">
              <a:lnSpc>
                <a:spcPct val="150000"/>
              </a:lnSpc>
              <a:spcBef>
                <a:spcPts val="1000"/>
              </a:spcBef>
              <a:spcAft>
                <a:spcPts val="0"/>
              </a:spcAft>
              <a:buNone/>
            </a:pPr>
            <a:endParaRPr dirty="0"/>
          </a:p>
        </p:txBody>
      </p:sp>
      <p:sp>
        <p:nvSpPr>
          <p:cNvPr id="4" name="CuadroTexto 3">
            <a:extLst>
              <a:ext uri="{FF2B5EF4-FFF2-40B4-BE49-F238E27FC236}">
                <a16:creationId xmlns:a16="http://schemas.microsoft.com/office/drawing/2014/main" id="{29168414-EAB8-A483-593D-BF63B1D8A10A}"/>
              </a:ext>
            </a:extLst>
          </p:cNvPr>
          <p:cNvSpPr txBox="1"/>
          <p:nvPr/>
        </p:nvSpPr>
        <p:spPr>
          <a:xfrm>
            <a:off x="1120877" y="5808597"/>
            <a:ext cx="2334293" cy="369332"/>
          </a:xfrm>
          <a:prstGeom prst="rect">
            <a:avLst/>
          </a:prstGeom>
          <a:noFill/>
        </p:spPr>
        <p:txBody>
          <a:bodyPr wrap="none" rtlCol="0">
            <a:spAutoFit/>
          </a:bodyPr>
          <a:lstStyle/>
          <a:p>
            <a:r>
              <a:rPr lang="es-MX" dirty="0">
                <a:solidFill>
                  <a:schemeClr val="tx1">
                    <a:lumMod val="75000"/>
                    <a:lumOff val="25000"/>
                  </a:schemeClr>
                </a:solidFill>
              </a:rPr>
              <a:t>(Gamma et al., 1994)</a:t>
            </a:r>
            <a:endParaRPr lang="es-MX" dirty="0"/>
          </a:p>
        </p:txBody>
      </p:sp>
    </p:spTree>
    <p:extLst>
      <p:ext uri="{BB962C8B-B14F-4D97-AF65-F5344CB8AC3E}">
        <p14:creationId xmlns:p14="http://schemas.microsoft.com/office/powerpoint/2010/main" val="25979147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0B829-3AB9-FC67-C214-55F47A4FCDFB}"/>
            </a:ext>
          </a:extLst>
        </p:cNvPr>
        <p:cNvGrpSpPr/>
        <p:nvPr/>
      </p:nvGrpSpPr>
      <p:grpSpPr>
        <a:xfrm>
          <a:off x="0" y="0"/>
          <a:ext cx="0" cy="0"/>
          <a:chOff x="0" y="0"/>
          <a:chExt cx="0" cy="0"/>
        </a:xfrm>
      </p:grpSpPr>
      <p:graphicFrame>
        <p:nvGraphicFramePr>
          <p:cNvPr id="2" name="Marcador de contenido 3">
            <a:extLst>
              <a:ext uri="{FF2B5EF4-FFF2-40B4-BE49-F238E27FC236}">
                <a16:creationId xmlns:a16="http://schemas.microsoft.com/office/drawing/2014/main" id="{B095C496-4AF6-9BE4-9D4A-3C8C665559B8}"/>
              </a:ext>
            </a:extLst>
          </p:cNvPr>
          <p:cNvGraphicFramePr>
            <a:graphicFrameLocks/>
          </p:cNvGraphicFramePr>
          <p:nvPr>
            <p:extLst>
              <p:ext uri="{D42A27DB-BD31-4B8C-83A1-F6EECF244321}">
                <p14:modId xmlns:p14="http://schemas.microsoft.com/office/powerpoint/2010/main" val="2495403567"/>
              </p:ext>
            </p:extLst>
          </p:nvPr>
        </p:nvGraphicFramePr>
        <p:xfrm>
          <a:off x="836227" y="1415845"/>
          <a:ext cx="10518536" cy="4302836"/>
        </p:xfrm>
        <a:graphic>
          <a:graphicData uri="http://schemas.openxmlformats.org/drawingml/2006/table">
            <a:tbl>
              <a:tblPr/>
              <a:tblGrid>
                <a:gridCol w="5259268">
                  <a:extLst>
                    <a:ext uri="{9D8B030D-6E8A-4147-A177-3AD203B41FA5}">
                      <a16:colId xmlns:a16="http://schemas.microsoft.com/office/drawing/2014/main" val="20000"/>
                    </a:ext>
                  </a:extLst>
                </a:gridCol>
                <a:gridCol w="5259268">
                  <a:extLst>
                    <a:ext uri="{9D8B030D-6E8A-4147-A177-3AD203B41FA5}">
                      <a16:colId xmlns:a16="http://schemas.microsoft.com/office/drawing/2014/main" val="20001"/>
                    </a:ext>
                  </a:extLst>
                </a:gridCol>
              </a:tblGrid>
              <a:tr h="553796">
                <a:tc>
                  <a:txBody>
                    <a:bodyPr/>
                    <a:lstStyle/>
                    <a:p>
                      <a:pPr algn="ctr"/>
                      <a:r>
                        <a:rPr lang="es-ES" sz="2800" strike="noStrike" dirty="0"/>
                        <a:t>¿CUÁNDO USARLO?</a:t>
                      </a:r>
                      <a:endParaRPr sz="2800" dirty="0"/>
                    </a:p>
                  </a:txBody>
                  <a:tcPr>
                    <a:lnL w="12698" cmpd="sng">
                      <a:solidFill>
                        <a:srgbClr val="000000"/>
                      </a:solidFill>
                      <a:prstDash val="solid"/>
                    </a:lnL>
                    <a:lnR w="12698" cmpd="sng">
                      <a:solidFill>
                        <a:srgbClr val="000000"/>
                      </a:solidFill>
                      <a:prstDash val="solid"/>
                    </a:lnR>
                    <a:lnT w="12698" cmpd="sng">
                      <a:solidFill>
                        <a:srgbClr val="000000"/>
                      </a:solidFill>
                      <a:prstDash val="solid"/>
                    </a:lnT>
                    <a:lnB w="12698" cmpd="sng">
                      <a:solidFill>
                        <a:srgbClr val="000000"/>
                      </a:solidFill>
                      <a:prstDash val="solid"/>
                    </a:lnB>
                    <a:noFill/>
                  </a:tcPr>
                </a:tc>
                <a:tc>
                  <a:txBody>
                    <a:bodyPr/>
                    <a:lstStyle/>
                    <a:p>
                      <a:pPr algn="ctr"/>
                      <a:r>
                        <a:rPr lang="es-ES" sz="2800" strike="noStrike"/>
                        <a:t>¿CUÁNDO NO?</a:t>
                      </a:r>
                      <a:endParaRPr sz="2800"/>
                    </a:p>
                  </a:txBody>
                  <a:tcPr>
                    <a:lnL w="12698" cmpd="sng">
                      <a:solidFill>
                        <a:srgbClr val="000000"/>
                      </a:solidFill>
                      <a:prstDash val="solid"/>
                    </a:lnL>
                    <a:lnR w="12698" cmpd="sng">
                      <a:solidFill>
                        <a:srgbClr val="000000"/>
                      </a:solidFill>
                      <a:prstDash val="solid"/>
                    </a:lnR>
                    <a:lnT w="12698" cmpd="sng">
                      <a:solidFill>
                        <a:srgbClr val="000000"/>
                      </a:solidFill>
                      <a:prstDash val="solid"/>
                    </a:lnT>
                    <a:lnB w="12698" cmpd="sng">
                      <a:solidFill>
                        <a:srgbClr val="000000"/>
                      </a:solidFill>
                      <a:prstDash val="solid"/>
                    </a:lnB>
                    <a:noFill/>
                  </a:tcPr>
                </a:tc>
                <a:extLst>
                  <a:ext uri="{0D108BD9-81ED-4DB2-BD59-A6C34878D82A}">
                    <a16:rowId xmlns:a16="http://schemas.microsoft.com/office/drawing/2014/main" val="10000"/>
                  </a:ext>
                </a:extLst>
              </a:tr>
              <a:tr h="3713692">
                <a:tc>
                  <a:txBody>
                    <a:bodyPr/>
                    <a:lstStyle/>
                    <a:p>
                      <a:pPr marL="342900" indent="-342900">
                        <a:buFont typeface="Arial" panose="020B0604020202020204" pitchFamily="34" charset="0"/>
                        <a:buChar char="•"/>
                      </a:pPr>
                      <a:r>
                        <a:rPr lang="es-MX" sz="2000" dirty="0"/>
                        <a:t>Un sistema deba ser independiente de cómo se crean, componen y representan sus productos.</a:t>
                      </a:r>
                    </a:p>
                    <a:p>
                      <a:pPr marL="342900" indent="-342900">
                        <a:buFont typeface="Arial" panose="020B0604020202020204" pitchFamily="34" charset="0"/>
                        <a:buChar char="•"/>
                      </a:pPr>
                      <a:r>
                        <a:rPr lang="es-MX" sz="2000" dirty="0"/>
                        <a:t>Un sistema deba ser configurado con una de entre múltiples familias de productos.</a:t>
                      </a:r>
                    </a:p>
                    <a:p>
                      <a:pPr marL="342900" indent="-342900">
                        <a:buFont typeface="Arial" panose="020B0604020202020204" pitchFamily="34" charset="0"/>
                        <a:buChar char="•"/>
                      </a:pPr>
                      <a:r>
                        <a:rPr lang="es-MX" sz="2000" dirty="0"/>
                        <a:t>Una familia de objetos de producto relacionados esté diseñada para ser utilizada en conjunto, y usted necesite hacer cumplir esta restricción.</a:t>
                      </a:r>
                    </a:p>
                    <a:p>
                      <a:pPr marL="342900" indent="-342900">
                        <a:buFont typeface="Arial" panose="020B0604020202020204" pitchFamily="34" charset="0"/>
                        <a:buChar char="•"/>
                      </a:pPr>
                      <a:r>
                        <a:rPr lang="es-MX" sz="2000" dirty="0"/>
                        <a:t>Se requiera proporcionar una biblioteca de clases de productos y quiera revelar solo sus interfaces, no sus implementaciones.</a:t>
                      </a:r>
                    </a:p>
                  </a:txBody>
                  <a:tcPr>
                    <a:lnL w="12698" cmpd="sng">
                      <a:solidFill>
                        <a:srgbClr val="000000"/>
                      </a:solidFill>
                      <a:prstDash val="solid"/>
                    </a:lnL>
                    <a:lnR w="12698" cmpd="sng">
                      <a:solidFill>
                        <a:srgbClr val="000000"/>
                      </a:solidFill>
                      <a:prstDash val="solid"/>
                    </a:lnR>
                    <a:lnT w="12698" cmpd="sng">
                      <a:solidFill>
                        <a:srgbClr val="000000"/>
                      </a:solidFill>
                      <a:prstDash val="solid"/>
                    </a:lnT>
                    <a:lnB w="12698" cmpd="sng">
                      <a:solidFill>
                        <a:srgbClr val="000000"/>
                      </a:solidFill>
                      <a:prstDash val="solid"/>
                    </a:lnB>
                    <a:noFill/>
                  </a:tcPr>
                </a:tc>
                <a:tc>
                  <a:txBody>
                    <a:bodyPr/>
                    <a:lstStyle/>
                    <a:p>
                      <a:pPr marL="342901"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2400" strike="noStrike" dirty="0"/>
                        <a:t>No se recomienda utilizarse cuando sólo hay un tipo de objetos en juego, si llegamos a categorizar por el mero hecho de aplicar un patrón, se torna en un antipatrón.</a:t>
                      </a:r>
                      <a:endParaRPr lang="es-MX" sz="2400" dirty="0"/>
                    </a:p>
                    <a:p>
                      <a:pPr marL="285750" indent="-285749"/>
                      <a:endParaRPr sz="2400" dirty="0"/>
                    </a:p>
                  </a:txBody>
                  <a:tcPr>
                    <a:lnL w="12698" cmpd="sng">
                      <a:solidFill>
                        <a:srgbClr val="000000"/>
                      </a:solidFill>
                      <a:prstDash val="solid"/>
                    </a:lnL>
                    <a:lnR w="12698" cmpd="sng">
                      <a:solidFill>
                        <a:srgbClr val="000000"/>
                      </a:solidFill>
                      <a:prstDash val="solid"/>
                    </a:lnR>
                    <a:lnT w="12698" cmpd="sng">
                      <a:solidFill>
                        <a:srgbClr val="000000"/>
                      </a:solidFill>
                      <a:prstDash val="solid"/>
                    </a:lnT>
                    <a:lnB w="12698" cmpd="sng">
                      <a:solidFill>
                        <a:srgbClr val="000000"/>
                      </a:solidFill>
                      <a:prstDash val="solid"/>
                    </a:lnB>
                    <a:noFill/>
                  </a:tcPr>
                </a:tc>
                <a:extLst>
                  <a:ext uri="{0D108BD9-81ED-4DB2-BD59-A6C34878D82A}">
                    <a16:rowId xmlns:a16="http://schemas.microsoft.com/office/drawing/2014/main" val="10001"/>
                  </a:ext>
                </a:extLst>
              </a:tr>
            </a:tbl>
          </a:graphicData>
        </a:graphic>
      </p:graphicFrame>
      <p:sp>
        <p:nvSpPr>
          <p:cNvPr id="3" name="Título 1">
            <a:extLst>
              <a:ext uri="{FF2B5EF4-FFF2-40B4-BE49-F238E27FC236}">
                <a16:creationId xmlns:a16="http://schemas.microsoft.com/office/drawing/2014/main" id="{E167C9E6-9C0B-EDBD-6245-58CF0AD8E2B6}"/>
              </a:ext>
            </a:extLst>
          </p:cNvPr>
          <p:cNvSpPr txBox="1">
            <a:spLocks/>
          </p:cNvSpPr>
          <p:nvPr/>
        </p:nvSpPr>
        <p:spPr>
          <a:xfrm>
            <a:off x="838027" y="365017"/>
            <a:ext cx="10514937" cy="1325436"/>
          </a:xfrm>
          <a:prstGeom prst="rect">
            <a:avLst/>
          </a:prstGeom>
          <a:noFill/>
          <a:ln>
            <a:noFill/>
          </a:ln>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s-MX" dirty="0"/>
              <a:t>CONDICIONES DE USO</a:t>
            </a:r>
          </a:p>
        </p:txBody>
      </p:sp>
      <p:sp>
        <p:nvSpPr>
          <p:cNvPr id="4" name="CuadroTexto 3">
            <a:extLst>
              <a:ext uri="{FF2B5EF4-FFF2-40B4-BE49-F238E27FC236}">
                <a16:creationId xmlns:a16="http://schemas.microsoft.com/office/drawing/2014/main" id="{0E362347-58CB-73A5-F7F4-7FE95EBD443C}"/>
              </a:ext>
            </a:extLst>
          </p:cNvPr>
          <p:cNvSpPr txBox="1"/>
          <p:nvPr/>
        </p:nvSpPr>
        <p:spPr>
          <a:xfrm>
            <a:off x="836227" y="5837128"/>
            <a:ext cx="2268570" cy="369332"/>
          </a:xfrm>
          <a:prstGeom prst="rect">
            <a:avLst/>
          </a:prstGeom>
          <a:noFill/>
        </p:spPr>
        <p:txBody>
          <a:bodyPr wrap="none" rtlCol="0">
            <a:spAutoFit/>
          </a:bodyPr>
          <a:lstStyle/>
          <a:p>
            <a:r>
              <a:rPr lang="es-MX" dirty="0">
                <a:solidFill>
                  <a:schemeClr val="tx1">
                    <a:lumMod val="75000"/>
                    <a:lumOff val="25000"/>
                  </a:schemeClr>
                </a:solidFill>
              </a:rPr>
              <a:t>(Gamma et al., 1994)</a:t>
            </a:r>
            <a:endParaRPr lang="es-MX" dirty="0"/>
          </a:p>
        </p:txBody>
      </p:sp>
    </p:spTree>
    <p:extLst>
      <p:ext uri="{BB962C8B-B14F-4D97-AF65-F5344CB8AC3E}">
        <p14:creationId xmlns:p14="http://schemas.microsoft.com/office/powerpoint/2010/main" val="9606304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FA012-2AA9-EBAA-A23D-7FCB9F56AC3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51AC1ED-0A95-D0B7-2DC6-61BE9E1AEDDE}"/>
              </a:ext>
            </a:extLst>
          </p:cNvPr>
          <p:cNvSpPr>
            <a:spLocks noGrp="1"/>
          </p:cNvSpPr>
          <p:nvPr>
            <p:ph type="title"/>
          </p:nvPr>
        </p:nvSpPr>
        <p:spPr/>
        <p:txBody>
          <a:bodyPr/>
          <a:lstStyle/>
          <a:p>
            <a:r>
              <a:rPr lang="es-MX" dirty="0"/>
              <a:t>IMPLEMENTACION DEL PATRON ABSTRACT FACTORY</a:t>
            </a:r>
          </a:p>
        </p:txBody>
      </p:sp>
      <p:sp>
        <p:nvSpPr>
          <p:cNvPr id="3" name="Marcador de contenido 2">
            <a:extLst>
              <a:ext uri="{FF2B5EF4-FFF2-40B4-BE49-F238E27FC236}">
                <a16:creationId xmlns:a16="http://schemas.microsoft.com/office/drawing/2014/main" id="{32F74243-2B46-B034-C9A5-CFE03ACCE46A}"/>
              </a:ext>
            </a:extLst>
          </p:cNvPr>
          <p:cNvSpPr>
            <a:spLocks noGrp="1"/>
          </p:cNvSpPr>
          <p:nvPr>
            <p:ph idx="1"/>
          </p:nvPr>
        </p:nvSpPr>
        <p:spPr/>
        <p:txBody>
          <a:bodyPr/>
          <a:lstStyle/>
          <a:p>
            <a:r>
              <a:rPr lang="es-MX" b="1" dirty="0"/>
              <a:t>Problemática</a:t>
            </a:r>
            <a:r>
              <a:rPr lang="es-MX" dirty="0"/>
              <a:t>: Tienes 42 años, te ganaste la lotería, deseas unos muebles nuevos, pero quieres cohesión en su estilo, victoriano o minimalista, he ahí el dilema.</a:t>
            </a:r>
            <a:br>
              <a:rPr lang="es-MX" dirty="0"/>
            </a:br>
            <a:r>
              <a:rPr lang="es-MX" dirty="0"/>
              <a:t>No te interesa el producto abstracto que es la base de quién sabe qué, sólo quieres que tu silla y tu mesa tengan el estilo de tu elección.</a:t>
            </a:r>
          </a:p>
          <a:p>
            <a:endParaRPr lang="es-MX" dirty="0"/>
          </a:p>
        </p:txBody>
      </p:sp>
    </p:spTree>
    <p:extLst>
      <p:ext uri="{BB962C8B-B14F-4D97-AF65-F5344CB8AC3E}">
        <p14:creationId xmlns:p14="http://schemas.microsoft.com/office/powerpoint/2010/main" val="27216083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noGroup"/>
        <p:cNvGrpSpPr/>
        <p:nvPr/>
      </p:nvGrpSpPr>
      <p:grpSpPr>
        <a:xfrm>
          <a:off x="0" y="0"/>
          <a:ext cx="0" cy="0"/>
          <a:chOff x="0" y="0"/>
          <a:chExt cx="0" cy="0"/>
        </a:xfrm>
      </p:grpSpPr>
      <p:pic>
        <p:nvPicPr>
          <p:cNvPr id="2" name="Imagen 1"/>
          <p:cNvPicPr/>
          <p:nvPr/>
        </p:nvPicPr>
        <p:blipFill>
          <a:blip r:embed="rId3"/>
          <a:stretch>
            <a:fillRect/>
          </a:stretch>
        </p:blipFill>
        <p:spPr>
          <a:xfrm>
            <a:off x="1886640" y="1400526"/>
            <a:ext cx="8405470" cy="4715702"/>
          </a:xfrm>
          <a:prstGeom prst="rect">
            <a:avLst/>
          </a:prstGeom>
          <a:effectLst/>
        </p:spPr>
      </p:pic>
      <p:sp>
        <p:nvSpPr>
          <p:cNvPr id="3" name="place_holder"/>
          <p:cNvSpPr txBox="1">
            <a:spLocks noGrp="1"/>
          </p:cNvSpPr>
          <p:nvPr>
            <p:ph type="title" idx="4294967295"/>
          </p:nvPr>
        </p:nvSpPr>
        <p:spPr>
          <a:xfrm>
            <a:off x="831907" y="223977"/>
            <a:ext cx="10514937" cy="671357"/>
          </a:xfrm>
          <a:prstGeom prst="rect">
            <a:avLst/>
          </a:prstGeom>
          <a:noFill/>
          <a:ln>
            <a:noFill/>
          </a:ln>
          <a:effectLst/>
        </p:spPr>
        <p:txBody>
          <a:bodyPr lIns="91440" tIns="45720" rIns="91440" bIns="45720" anchor="b"/>
          <a:lstStyle/>
          <a:p>
            <a:r>
              <a:rPr lang="es-ES" sz="3600" b="1" strike="noStrike"/>
              <a:t>Diagrama de clases de la implementación</a:t>
            </a:r>
            <a:endParaRPr sz="3600"/>
          </a:p>
        </p:txBody>
      </p:sp>
      <p:sp>
        <p:nvSpPr>
          <p:cNvPr id="4" name="CuadroTexto 2"/>
          <p:cNvSpPr txBox="1"/>
          <p:nvPr/>
        </p:nvSpPr>
        <p:spPr>
          <a:xfrm>
            <a:off x="877913" y="6267927"/>
            <a:ext cx="11314087" cy="366096"/>
          </a:xfrm>
          <a:prstGeom prst="rect">
            <a:avLst/>
          </a:prstGeom>
          <a:noFill/>
          <a:ln>
            <a:noFill/>
          </a:ln>
          <a:effectLst/>
        </p:spPr>
        <p:txBody>
          <a:bodyPr lIns="91440" tIns="45720" rIns="91440" bIns="45720" anchor="t">
            <a:spAutoFit/>
          </a:bodyPr>
          <a:lstStyle/>
          <a:p>
            <a:pPr marL="0" marR="0" indent="0" algn="l">
              <a:lnSpc>
                <a:spcPct val="100000"/>
              </a:lnSpc>
              <a:spcBef>
                <a:spcPts val="0"/>
              </a:spcBef>
              <a:spcAft>
                <a:spcPts val="0"/>
              </a:spcAft>
            </a:pPr>
            <a:r>
              <a:rPr lang="pt-BR" sz="1800" i="1" u="none" spc="0" dirty="0">
                <a:solidFill>
                  <a:schemeClr val="tx1">
                    <a:lumMod val="65000"/>
                    <a:lumOff val="35000"/>
                  </a:schemeClr>
                </a:solidFill>
                <a:latin typeface="Aptos"/>
                <a:cs typeface="Aptos"/>
              </a:rPr>
              <a:t>Diagrama de Clases de Abstract Factory</a:t>
            </a:r>
            <a:r>
              <a:rPr lang="es-ES" sz="1800" u="none" spc="0" dirty="0">
                <a:solidFill>
                  <a:schemeClr val="tx1">
                    <a:lumMod val="65000"/>
                    <a:lumOff val="35000"/>
                  </a:schemeClr>
                </a:solidFill>
                <a:latin typeface="Aptos"/>
                <a:cs typeface="Aptos"/>
              </a:rPr>
              <a:t> en nuestra problemática, realizado por Lenin.</a:t>
            </a:r>
            <a:endParaRPr dirty="0">
              <a:solidFill>
                <a:schemeClr val="tx1">
                  <a:lumMod val="65000"/>
                  <a:lumOff val="35000"/>
                </a:schemeClr>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noGroup"/>
        <p:cNvGrpSpPr/>
        <p:nvPr/>
      </p:nvGrpSpPr>
      <p:grpSpPr>
        <a:xfrm>
          <a:off x="0" y="0"/>
          <a:ext cx="0" cy="0"/>
          <a:chOff x="0" y="0"/>
          <a:chExt cx="0" cy="0"/>
        </a:xfrm>
      </p:grpSpPr>
      <p:sp>
        <p:nvSpPr>
          <p:cNvPr id="2" name="Rectangle 9"/>
          <p:cNvSpPr/>
          <p:nvPr/>
        </p:nvSpPr>
        <p:spPr>
          <a:xfrm>
            <a:off x="0" y="0"/>
            <a:ext cx="12192431" cy="6857568"/>
          </a:xfrm>
          <a:custGeom>
            <a:avLst/>
            <a:gdLst/>
            <a:ahLst/>
            <a:cxnLst/>
            <a:rect l="0" t="0" r="r" b="b"/>
            <a:pathLst>
              <a:path w="21600" h="21600">
                <a:moveTo>
                  <a:pt x="0" y="0"/>
                </a:moveTo>
                <a:lnTo>
                  <a:pt x="21600" y="0"/>
                </a:lnTo>
                <a:lnTo>
                  <a:pt x="21600" y="21600"/>
                </a:lnTo>
                <a:lnTo>
                  <a:pt x="0" y="21600"/>
                </a:lnTo>
                <a:close/>
              </a:path>
            </a:pathLst>
          </a:custGeom>
          <a:solidFill>
            <a:srgbClr val="156082"/>
          </a:solidFill>
          <a:ln>
            <a:noFill/>
          </a:ln>
          <a:effectLst/>
        </p:spPr>
        <p:txBody>
          <a:bodyPr lIns="91440" tIns="45720" rIns="91440" bIns="45720" anchor="ctr"/>
          <a:lstStyle/>
          <a:p>
            <a:pPr marL="0" marR="0" indent="0" algn="ctr">
              <a:lnSpc>
                <a:spcPct val="100000"/>
              </a:lnSpc>
              <a:spcBef>
                <a:spcPts val="0"/>
              </a:spcBef>
              <a:spcAft>
                <a:spcPts val="0"/>
              </a:spcAft>
            </a:pPr>
            <a:endParaRPr/>
          </a:p>
        </p:txBody>
      </p:sp>
      <p:sp>
        <p:nvSpPr>
          <p:cNvPr id="3" name="Rectangle 11"/>
          <p:cNvSpPr/>
          <p:nvPr/>
        </p:nvSpPr>
        <p:spPr>
          <a:xfrm flipH="1">
            <a:off x="0" y="493"/>
            <a:ext cx="12192431" cy="1575980"/>
          </a:xfrm>
          <a:custGeom>
            <a:avLst/>
            <a:gdLst/>
            <a:ahLst/>
            <a:cxnLst/>
            <a:rect l="0" t="0" r="r" b="b"/>
            <a:pathLst>
              <a:path w="21600" h="21600">
                <a:moveTo>
                  <a:pt x="0" y="0"/>
                </a:moveTo>
                <a:lnTo>
                  <a:pt x="21600" y="0"/>
                </a:lnTo>
                <a:lnTo>
                  <a:pt x="21600" y="21600"/>
                </a:lnTo>
                <a:lnTo>
                  <a:pt x="0" y="21600"/>
                </a:lnTo>
                <a:close/>
              </a:path>
            </a:pathLst>
          </a:custGeom>
          <a:gradFill>
            <a:gsLst>
              <a:gs pos="100000">
                <a:srgbClr val="104862"/>
              </a:gs>
              <a:gs pos="0">
                <a:srgbClr val="0B3041"/>
              </a:gs>
            </a:gsLst>
            <a:lin ang="8400000"/>
          </a:gradFill>
          <a:ln>
            <a:noFill/>
          </a:ln>
          <a:effectLst/>
        </p:spPr>
        <p:txBody>
          <a:bodyPr lIns="91440" tIns="45720" rIns="91440" bIns="45720" anchor="ctr"/>
          <a:lstStyle/>
          <a:p>
            <a:pPr marL="0" marR="0" indent="0" algn="ctr">
              <a:lnSpc>
                <a:spcPct val="100000"/>
              </a:lnSpc>
              <a:spcBef>
                <a:spcPts val="0"/>
              </a:spcBef>
              <a:spcAft>
                <a:spcPts val="0"/>
              </a:spcAft>
            </a:pPr>
            <a:endParaRPr/>
          </a:p>
        </p:txBody>
      </p:sp>
      <p:sp>
        <p:nvSpPr>
          <p:cNvPr id="4" name="Rectangle 13"/>
          <p:cNvSpPr/>
          <p:nvPr/>
        </p:nvSpPr>
        <p:spPr>
          <a:xfrm rot="118799988" flipH="1">
            <a:off x="4064141" y="-1576293"/>
            <a:ext cx="4064143" cy="1576340"/>
          </a:xfrm>
          <a:custGeom>
            <a:avLst/>
            <a:gdLst/>
            <a:ahLst/>
            <a:cxnLst/>
            <a:rect l="0" t="0" r="r" b="b"/>
            <a:pathLst>
              <a:path w="21600" h="21600">
                <a:moveTo>
                  <a:pt x="0" y="0"/>
                </a:moveTo>
                <a:lnTo>
                  <a:pt x="21600" y="0"/>
                </a:lnTo>
                <a:lnTo>
                  <a:pt x="21600" y="21600"/>
                </a:lnTo>
                <a:lnTo>
                  <a:pt x="0" y="21600"/>
                </a:lnTo>
                <a:close/>
              </a:path>
            </a:pathLst>
          </a:custGeom>
          <a:gradFill>
            <a:gsLst>
              <a:gs pos="100000">
                <a:srgbClr val="156082">
                  <a:alpha val="75000"/>
                </a:srgbClr>
              </a:gs>
              <a:gs pos="0">
                <a:srgbClr val="0B3041">
                  <a:alpha val="100000"/>
                </a:srgbClr>
              </a:gs>
            </a:gsLst>
            <a:lin ang="19200000"/>
          </a:gradFill>
          <a:ln>
            <a:noFill/>
          </a:ln>
          <a:effectLst/>
        </p:spPr>
        <p:txBody>
          <a:bodyPr lIns="91440" tIns="45720" rIns="91440" bIns="45720" anchor="ctr"/>
          <a:lstStyle/>
          <a:p>
            <a:pPr marL="0" marR="0" indent="0" algn="ctr">
              <a:lnSpc>
                <a:spcPct val="100000"/>
              </a:lnSpc>
              <a:spcBef>
                <a:spcPts val="0"/>
              </a:spcBef>
              <a:spcAft>
                <a:spcPts val="0"/>
              </a:spcAft>
            </a:pPr>
            <a:endParaRPr/>
          </a:p>
        </p:txBody>
      </p:sp>
      <p:sp>
        <p:nvSpPr>
          <p:cNvPr id="5" name="Rectangle 15"/>
          <p:cNvSpPr/>
          <p:nvPr/>
        </p:nvSpPr>
        <p:spPr>
          <a:xfrm rot="113400010">
            <a:off x="-1578321" y="-10614128"/>
            <a:ext cx="1576340" cy="12192431"/>
          </a:xfrm>
          <a:custGeom>
            <a:avLst/>
            <a:gdLst/>
            <a:ahLst/>
            <a:cxnLst/>
            <a:rect l="0" t="0" r="r" b="b"/>
            <a:pathLst>
              <a:path w="21600" h="21600">
                <a:moveTo>
                  <a:pt x="0" y="0"/>
                </a:moveTo>
                <a:lnTo>
                  <a:pt x="21600" y="0"/>
                </a:lnTo>
                <a:lnTo>
                  <a:pt x="21600" y="21600"/>
                </a:lnTo>
                <a:lnTo>
                  <a:pt x="0" y="21600"/>
                </a:lnTo>
                <a:close/>
              </a:path>
            </a:pathLst>
          </a:custGeom>
          <a:gradFill>
            <a:gsLst>
              <a:gs pos="100000">
                <a:srgbClr val="000000">
                  <a:alpha val="83000"/>
                </a:srgbClr>
              </a:gs>
              <a:gs pos="0">
                <a:srgbClr val="000000">
                  <a:alpha val="100000"/>
                </a:srgbClr>
              </a:gs>
            </a:gsLst>
            <a:lin ang="11400000"/>
          </a:gradFill>
          <a:ln>
            <a:noFill/>
          </a:ln>
          <a:effectLst/>
        </p:spPr>
        <p:txBody>
          <a:bodyPr lIns="91440" tIns="45720" rIns="91440" bIns="45720" anchor="ctr"/>
          <a:lstStyle/>
          <a:p>
            <a:pPr marL="0" marR="0" indent="0" algn="ctr">
              <a:lnSpc>
                <a:spcPct val="100000"/>
              </a:lnSpc>
              <a:spcBef>
                <a:spcPts val="0"/>
              </a:spcBef>
              <a:spcAft>
                <a:spcPts val="0"/>
              </a:spcAft>
            </a:pPr>
            <a:endParaRPr/>
          </a:p>
        </p:txBody>
      </p:sp>
      <p:sp>
        <p:nvSpPr>
          <p:cNvPr id="6" name="Rectangle 17"/>
          <p:cNvSpPr/>
          <p:nvPr/>
        </p:nvSpPr>
        <p:spPr>
          <a:xfrm>
            <a:off x="3826558" y="987"/>
            <a:ext cx="4301729" cy="1575620"/>
          </a:xfrm>
          <a:custGeom>
            <a:avLst/>
            <a:gdLst/>
            <a:ahLst/>
            <a:cxnLst/>
            <a:rect l="0" t="0" r="r" b="b"/>
            <a:pathLst>
              <a:path w="21600" h="21600">
                <a:moveTo>
                  <a:pt x="0" y="0"/>
                </a:moveTo>
                <a:lnTo>
                  <a:pt x="21600" y="0"/>
                </a:lnTo>
                <a:lnTo>
                  <a:pt x="21600" y="21600"/>
                </a:lnTo>
                <a:lnTo>
                  <a:pt x="0" y="21600"/>
                </a:lnTo>
                <a:close/>
              </a:path>
            </a:pathLst>
          </a:custGeom>
          <a:gradFill>
            <a:gsLst>
              <a:gs pos="100000">
                <a:srgbClr val="0B3041">
                  <a:alpha val="0"/>
                </a:srgbClr>
              </a:gs>
              <a:gs pos="0">
                <a:srgbClr val="156082">
                  <a:alpha val="100000"/>
                </a:srgbClr>
              </a:gs>
            </a:gsLst>
            <a:lin ang="14400000"/>
          </a:gradFill>
          <a:ln>
            <a:noFill/>
          </a:ln>
          <a:effectLst/>
        </p:spPr>
        <p:txBody>
          <a:bodyPr lIns="91440" tIns="45720" rIns="91440" bIns="45720" anchor="ctr"/>
          <a:lstStyle/>
          <a:p>
            <a:pPr marL="0" marR="0" indent="0" algn="ctr">
              <a:lnSpc>
                <a:spcPct val="100000"/>
              </a:lnSpc>
              <a:spcBef>
                <a:spcPts val="0"/>
              </a:spcBef>
              <a:spcAft>
                <a:spcPts val="0"/>
              </a:spcAft>
            </a:pPr>
            <a:endParaRPr/>
          </a:p>
        </p:txBody>
      </p:sp>
      <p:sp>
        <p:nvSpPr>
          <p:cNvPr id="7" name="Título 1"/>
          <p:cNvSpPr txBox="1">
            <a:spLocks noGrp="1"/>
          </p:cNvSpPr>
          <p:nvPr>
            <p:ph type="title" idx="4294967295"/>
          </p:nvPr>
        </p:nvSpPr>
        <p:spPr>
          <a:xfrm>
            <a:off x="699795" y="353173"/>
            <a:ext cx="7091553" cy="898503"/>
          </a:xfrm>
          <a:prstGeom prst="rect">
            <a:avLst/>
          </a:prstGeom>
          <a:noFill/>
          <a:ln>
            <a:noFill/>
          </a:ln>
          <a:effectLst/>
        </p:spPr>
        <p:txBody>
          <a:bodyPr lIns="91440" tIns="45720" rIns="91440" bIns="45720" anchor="ctr"/>
          <a:lstStyle/>
          <a:p>
            <a:pPr marL="0" marR="0" indent="0" algn="l">
              <a:lnSpc>
                <a:spcPct val="90000"/>
              </a:lnSpc>
              <a:spcBef>
                <a:spcPts val="0"/>
              </a:spcBef>
              <a:spcAft>
                <a:spcPts val="0"/>
              </a:spcAft>
            </a:pPr>
            <a:r>
              <a:rPr lang="en-US" sz="3100" u="none" spc="0">
                <a:solidFill>
                  <a:srgbClr val="FFFFFF"/>
                </a:solidFill>
                <a:latin typeface="Aptos Display"/>
                <a:cs typeface="Aptos Display"/>
              </a:rPr>
              <a:t>ABSTRACT FACTORY – IMPLEMENTACIÓN</a:t>
            </a:r>
            <a:endParaRPr/>
          </a:p>
        </p:txBody>
      </p:sp>
      <p:pic>
        <p:nvPicPr>
          <p:cNvPr id="8" name="Imagen 7"/>
          <p:cNvPicPr/>
          <p:nvPr/>
        </p:nvPicPr>
        <p:blipFill>
          <a:blip r:embed="rId3"/>
          <a:stretch>
            <a:fillRect/>
          </a:stretch>
        </p:blipFill>
        <p:spPr>
          <a:xfrm>
            <a:off x="66883" y="1576340"/>
            <a:ext cx="6763973" cy="4773299"/>
          </a:xfrm>
          <a:prstGeom prst="rect">
            <a:avLst/>
          </a:prstGeom>
          <a:effectLst/>
        </p:spPr>
      </p:pic>
      <p:pic>
        <p:nvPicPr>
          <p:cNvPr id="9" name="Imagen 8"/>
          <p:cNvPicPr/>
          <p:nvPr/>
        </p:nvPicPr>
        <p:blipFill>
          <a:blip r:embed="rId4"/>
          <a:stretch>
            <a:fillRect/>
          </a:stretch>
        </p:blipFill>
        <p:spPr>
          <a:xfrm>
            <a:off x="7530725" y="2671391"/>
            <a:ext cx="4258531" cy="1514424"/>
          </a:xfrm>
          <a:prstGeom prst="rect">
            <a:avLst/>
          </a:prstGeom>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noGroup"/>
        <p:cNvGrpSpPr/>
        <p:nvPr/>
      </p:nvGrpSpPr>
      <p:grpSpPr>
        <a:xfrm>
          <a:off x="0" y="0"/>
          <a:ext cx="0" cy="0"/>
          <a:chOff x="0" y="0"/>
          <a:chExt cx="0" cy="0"/>
        </a:xfrm>
      </p:grpSpPr>
      <p:sp>
        <p:nvSpPr>
          <p:cNvPr id="2" name="Rectangle 11"/>
          <p:cNvSpPr/>
          <p:nvPr/>
        </p:nvSpPr>
        <p:spPr>
          <a:xfrm>
            <a:off x="0" y="0"/>
            <a:ext cx="12192431" cy="6857568"/>
          </a:xfrm>
          <a:custGeom>
            <a:avLst/>
            <a:gdLst/>
            <a:ahLst/>
            <a:cxnLst/>
            <a:rect l="0" t="0" r="r" b="b"/>
            <a:pathLst>
              <a:path w="21600" h="21600">
                <a:moveTo>
                  <a:pt x="0" y="0"/>
                </a:moveTo>
                <a:lnTo>
                  <a:pt x="21600" y="0"/>
                </a:lnTo>
                <a:lnTo>
                  <a:pt x="21600" y="21600"/>
                </a:lnTo>
                <a:lnTo>
                  <a:pt x="0" y="21600"/>
                </a:lnTo>
                <a:close/>
              </a:path>
            </a:pathLst>
          </a:custGeom>
          <a:solidFill>
            <a:srgbClr val="FFFFFF"/>
          </a:solidFill>
          <a:ln>
            <a:noFill/>
          </a:ln>
          <a:effectLst/>
        </p:spPr>
        <p:txBody>
          <a:bodyPr lIns="91440" tIns="45720" rIns="91440" bIns="45720" anchor="ctr"/>
          <a:lstStyle/>
          <a:p>
            <a:pPr marL="0" marR="0" indent="0" algn="ctr">
              <a:lnSpc>
                <a:spcPct val="100000"/>
              </a:lnSpc>
              <a:spcBef>
                <a:spcPts val="0"/>
              </a:spcBef>
              <a:spcAft>
                <a:spcPts val="0"/>
              </a:spcAft>
            </a:pPr>
            <a:endParaRPr/>
          </a:p>
        </p:txBody>
      </p:sp>
      <p:sp>
        <p:nvSpPr>
          <p:cNvPr id="4" name="Rectangle 12"/>
          <p:cNvSpPr/>
          <p:nvPr/>
        </p:nvSpPr>
        <p:spPr>
          <a:xfrm rot="110700004" flipH="1">
            <a:off x="568943" y="555928"/>
            <a:ext cx="645439" cy="645439"/>
          </a:xfrm>
          <a:custGeom>
            <a:avLst/>
            <a:gdLst/>
            <a:ahLst/>
            <a:cxnLst/>
            <a:rect l="0" t="0" r="r" b="b"/>
            <a:pathLst>
              <a:path w="21600" h="21600">
                <a:moveTo>
                  <a:pt x="0" y="0"/>
                </a:moveTo>
                <a:lnTo>
                  <a:pt x="21600" y="0"/>
                </a:lnTo>
                <a:lnTo>
                  <a:pt x="21600" y="21600"/>
                </a:lnTo>
                <a:lnTo>
                  <a:pt x="0" y="21600"/>
                </a:lnTo>
                <a:close/>
              </a:path>
            </a:pathLst>
          </a:custGeom>
          <a:solidFill>
            <a:srgbClr val="156082">
              <a:alpha val="26000"/>
            </a:srgbClr>
          </a:solidFill>
          <a:ln>
            <a:noFill/>
          </a:ln>
          <a:effectLst/>
        </p:spPr>
        <p:txBody>
          <a:bodyPr lIns="91440" tIns="45720" rIns="91440" bIns="45720" anchor="ctr"/>
          <a:lstStyle/>
          <a:p>
            <a:pPr marL="0" marR="0" indent="0" algn="ctr">
              <a:lnSpc>
                <a:spcPct val="100000"/>
              </a:lnSpc>
              <a:spcBef>
                <a:spcPts val="0"/>
              </a:spcBef>
              <a:spcAft>
                <a:spcPts val="0"/>
              </a:spcAft>
            </a:pPr>
            <a:endParaRPr/>
          </a:p>
        </p:txBody>
      </p:sp>
      <p:sp>
        <p:nvSpPr>
          <p:cNvPr id="5" name="Rectangle 14"/>
          <p:cNvSpPr/>
          <p:nvPr/>
        </p:nvSpPr>
        <p:spPr>
          <a:xfrm rot="110700004" flipH="1">
            <a:off x="9699588" y="797556"/>
            <a:ext cx="687556" cy="687556"/>
          </a:xfrm>
          <a:custGeom>
            <a:avLst/>
            <a:gdLst/>
            <a:ahLst/>
            <a:cxnLst/>
            <a:rect l="0" t="0" r="r" b="b"/>
            <a:pathLst>
              <a:path w="21600" h="21600">
                <a:moveTo>
                  <a:pt x="0" y="0"/>
                </a:moveTo>
                <a:lnTo>
                  <a:pt x="21600" y="0"/>
                </a:lnTo>
                <a:lnTo>
                  <a:pt x="21600" y="21600"/>
                </a:lnTo>
                <a:lnTo>
                  <a:pt x="0" y="21600"/>
                </a:lnTo>
                <a:close/>
              </a:path>
            </a:pathLst>
          </a:custGeom>
          <a:solidFill>
            <a:srgbClr val="0F9ED5">
              <a:alpha val="26000"/>
            </a:srgbClr>
          </a:solidFill>
          <a:ln>
            <a:noFill/>
          </a:ln>
          <a:effectLst/>
        </p:spPr>
        <p:txBody>
          <a:bodyPr lIns="91440" tIns="45720" rIns="91440" bIns="45720" anchor="ctr"/>
          <a:lstStyle/>
          <a:p>
            <a:pPr marL="0" marR="0" indent="0" algn="ctr">
              <a:lnSpc>
                <a:spcPct val="100000"/>
              </a:lnSpc>
              <a:spcBef>
                <a:spcPts val="0"/>
              </a:spcBef>
              <a:spcAft>
                <a:spcPts val="0"/>
              </a:spcAft>
            </a:pPr>
            <a:endParaRPr/>
          </a:p>
        </p:txBody>
      </p:sp>
      <p:sp>
        <p:nvSpPr>
          <p:cNvPr id="6" name="Freeform: Shape 16"/>
          <p:cNvSpPr/>
          <p:nvPr/>
        </p:nvSpPr>
        <p:spPr>
          <a:xfrm rot="118799988" flipH="1">
            <a:off x="6520626" y="-1480940"/>
            <a:ext cx="2835181" cy="1480946"/>
          </a:xfrm>
          <a:custGeom>
            <a:avLst/>
            <a:gdLst>
              <a:gd name="gd0" fmla="val 0"/>
              <a:gd name="gd1" fmla="val 2835357"/>
              <a:gd name="gd2" fmla="val 0"/>
              <a:gd name="gd3" fmla="val 1480837"/>
              <a:gd name="gd4" fmla="+- 0 gd3 gd2"/>
              <a:gd name="gd5" fmla="+- 0 gd1 gd0"/>
              <a:gd name="gd6" fmla="+/ 0 gd5 1"/>
              <a:gd name="gd7" fmla="+/ 0 gd4 1"/>
              <a:gd name="gd8" fmla="*/ 2835357 gd5 2835357"/>
              <a:gd name="gd9" fmla="*/ 1480837 gd4 1480837"/>
              <a:gd name="gd10" fmla="*/ 0 gd5 2835357"/>
              <a:gd name="gd11" fmla="*/ 1552727 gd5 2835357"/>
              <a:gd name="gd12" fmla="*/ 0 gd4 1480837"/>
              <a:gd name="gd13" fmla="*/ 1223245 gd4 1480837"/>
              <a:gd name="gd14" fmla="+/ 0 gd8 1"/>
              <a:gd name="gd15" fmla="+/ 0 gd9 1"/>
              <a:gd name="gd16" fmla="+/ 0 gd10 1"/>
              <a:gd name="gd17" fmla="+/ 0 gd11 1"/>
              <a:gd name="gd18" fmla="+/ 0 gd12 1"/>
              <a:gd name="gd19" fmla="+/ 0 gd13 1"/>
              <a:gd name="gd20" fmla="+/ 0 gd0 1"/>
              <a:gd name="gd21" fmla="+/ 0 gd1 1"/>
              <a:gd name="gd22" fmla="+/ 0 gd2 1"/>
              <a:gd name="gd23" fmla="+/ 0 gd3 1"/>
            </a:gdLst>
            <a:ahLst/>
            <a:cxnLst/>
            <a:rect l="0" t="0" r="r" b="b"/>
            <a:pathLst>
              <a:path w="2835357" h="1480837">
                <a:moveTo>
                  <a:pt x="2835357" y="1480837"/>
                </a:moveTo>
                <a:lnTo>
                  <a:pt x="0" y="1480837"/>
                </a:lnTo>
                <a:lnTo>
                  <a:pt x="1552727" y="0"/>
                </a:lnTo>
                <a:lnTo>
                  <a:pt x="2835357" y="1223245"/>
                </a:lnTo>
                <a:close/>
              </a:path>
            </a:pathLst>
          </a:custGeom>
          <a:solidFill>
            <a:srgbClr val="0F9ED5">
              <a:alpha val="26000"/>
            </a:srgbClr>
          </a:solidFill>
          <a:ln>
            <a:noFill/>
          </a:ln>
          <a:effectLst/>
        </p:spPr>
        <p:txBody>
          <a:bodyPr lIns="91440" tIns="45720" rIns="91440" bIns="45720" anchor="ctr"/>
          <a:lstStyle/>
          <a:p>
            <a:pPr marL="0" marR="0" indent="0" algn="ctr">
              <a:lnSpc>
                <a:spcPct val="100000"/>
              </a:lnSpc>
              <a:spcBef>
                <a:spcPts val="0"/>
              </a:spcBef>
              <a:spcAft>
                <a:spcPts val="0"/>
              </a:spcAft>
            </a:pPr>
            <a:endParaRPr/>
          </a:p>
        </p:txBody>
      </p:sp>
      <p:pic>
        <p:nvPicPr>
          <p:cNvPr id="9" name="Imagen 8"/>
          <p:cNvPicPr/>
          <p:nvPr/>
        </p:nvPicPr>
        <p:blipFill>
          <a:blip r:embed="rId3"/>
          <a:stretch>
            <a:fillRect/>
          </a:stretch>
        </p:blipFill>
        <p:spPr>
          <a:xfrm>
            <a:off x="435212" y="104573"/>
            <a:ext cx="5151275" cy="4172137"/>
          </a:xfrm>
          <a:prstGeom prst="rect">
            <a:avLst/>
          </a:prstGeom>
          <a:effectLst/>
        </p:spPr>
      </p:pic>
      <p:pic>
        <p:nvPicPr>
          <p:cNvPr id="10" name="Imagen 9"/>
          <p:cNvPicPr/>
          <p:nvPr/>
        </p:nvPicPr>
        <p:blipFill>
          <a:blip r:embed="rId4"/>
          <a:stretch>
            <a:fillRect/>
          </a:stretch>
        </p:blipFill>
        <p:spPr>
          <a:xfrm>
            <a:off x="6432794" y="104573"/>
            <a:ext cx="5230470" cy="2829061"/>
          </a:xfrm>
          <a:prstGeom prst="rect">
            <a:avLst/>
          </a:prstGeom>
          <a:effectLst/>
        </p:spPr>
      </p:pic>
      <p:pic>
        <p:nvPicPr>
          <p:cNvPr id="11" name="Imagen 10"/>
          <p:cNvPicPr/>
          <p:nvPr/>
        </p:nvPicPr>
        <p:blipFill>
          <a:blip r:embed="rId5"/>
          <a:stretch>
            <a:fillRect/>
          </a:stretch>
        </p:blipFill>
        <p:spPr>
          <a:xfrm>
            <a:off x="6123214" y="2933455"/>
            <a:ext cx="5849631" cy="2895657"/>
          </a:xfrm>
          <a:prstGeom prst="rect">
            <a:avLst/>
          </a:prstGeom>
          <a:effectLst/>
        </p:spPr>
      </p:pic>
      <p:sp>
        <p:nvSpPr>
          <p:cNvPr id="12" name="CuadroTexto 11"/>
          <p:cNvSpPr txBox="1"/>
          <p:nvPr/>
        </p:nvSpPr>
        <p:spPr>
          <a:xfrm rot="64800000">
            <a:off x="474809" y="4594390"/>
            <a:ext cx="5072080" cy="1798806"/>
          </a:xfrm>
          <a:prstGeom prst="rect">
            <a:avLst/>
          </a:prstGeom>
          <a:noFill/>
          <a:ln>
            <a:noFill/>
          </a:ln>
          <a:effectLst/>
        </p:spPr>
        <p:txBody>
          <a:bodyPr lIns="91440" tIns="45720" rIns="91440" bIns="45720" anchor="t">
            <a:spAutoFit/>
          </a:bodyPr>
          <a:lstStyle/>
          <a:p>
            <a:r>
              <a:rPr lang="es-ES" sz="1600" strike="noStrike" dirty="0"/>
              <a:t>Resultado esperado al elegir el estilo minimalista:</a:t>
            </a:r>
            <a:endParaRPr sz="1600" dirty="0"/>
          </a:p>
          <a:p>
            <a:r>
              <a:rPr lang="es-ES" sz="1600" u="none" spc="0" dirty="0">
                <a:latin typeface="Arial"/>
                <a:cs typeface="Arial"/>
              </a:rPr>
              <a:t>Client: Configurando la habitación con la fábrica seleccionada...</a:t>
            </a:r>
            <a:endParaRPr sz="1600" dirty="0"/>
          </a:p>
          <a:p>
            <a:r>
              <a:rPr lang="es-ES" sz="1600" u="none" spc="0" dirty="0">
                <a:latin typeface="Arial"/>
                <a:cs typeface="Arial"/>
              </a:rPr>
              <a:t>Has colocado un plato sobre una mesa de cristal minimalista.</a:t>
            </a:r>
            <a:endParaRPr sz="1600" dirty="0"/>
          </a:p>
          <a:p>
            <a:r>
              <a:rPr lang="es-ES" sz="1600" u="none" spc="0" dirty="0">
                <a:latin typeface="Arial"/>
                <a:cs typeface="Arial"/>
              </a:rPr>
              <a:t>Mesa Minimalista: Colocando plato mientras (Te has sentado en una silla minimalista de líneas rectas.)</a:t>
            </a:r>
            <a:endParaRPr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noGroup"/>
        <p:cNvGrpSpPr/>
        <p:nvPr/>
      </p:nvGrpSpPr>
      <p:grpSpPr>
        <a:xfrm>
          <a:off x="0" y="0"/>
          <a:ext cx="0" cy="0"/>
          <a:chOff x="0" y="0"/>
          <a:chExt cx="0" cy="0"/>
        </a:xfrm>
      </p:grpSpPr>
      <p:pic>
        <p:nvPicPr>
          <p:cNvPr id="2" name="Imagen 1"/>
          <p:cNvPicPr/>
          <p:nvPr/>
        </p:nvPicPr>
        <p:blipFill>
          <a:blip r:embed="rId3"/>
          <a:stretch>
            <a:fillRect/>
          </a:stretch>
        </p:blipFill>
        <p:spPr>
          <a:xfrm>
            <a:off x="3794160" y="314116"/>
            <a:ext cx="8243480" cy="6321201"/>
          </a:xfrm>
          <a:prstGeom prst="rect">
            <a:avLst/>
          </a:prstGeom>
          <a:effectLst/>
        </p:spPr>
      </p:pic>
      <p:sp>
        <p:nvSpPr>
          <p:cNvPr id="3" name="place_holder"/>
          <p:cNvSpPr txBox="1">
            <a:spLocks noGrp="1"/>
          </p:cNvSpPr>
          <p:nvPr>
            <p:ph type="title" idx="4294967295"/>
          </p:nvPr>
        </p:nvSpPr>
        <p:spPr>
          <a:xfrm>
            <a:off x="59108" y="223977"/>
            <a:ext cx="3732964" cy="6328401"/>
          </a:xfrm>
          <a:prstGeom prst="rect">
            <a:avLst/>
          </a:prstGeom>
          <a:noFill/>
          <a:ln>
            <a:noFill/>
          </a:ln>
          <a:effectLst/>
        </p:spPr>
        <p:txBody>
          <a:bodyPr lIns="91440" tIns="45720" rIns="91440" bIns="45720" anchor="ctr"/>
          <a:lstStyle/>
          <a:p>
            <a:r>
              <a:rPr lang="es-ES" sz="3600" b="1" strike="noStrike"/>
              <a:t>Diagrama de secuencia de la implementación</a:t>
            </a:r>
            <a:endParaRPr sz="36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noGroup"/>
        <p:cNvGrpSpPr/>
        <p:nvPr/>
      </p:nvGrpSpPr>
      <p:grpSpPr>
        <a:xfrm>
          <a:off x="0" y="0"/>
          <a:ext cx="0" cy="0"/>
          <a:chOff x="0" y="0"/>
          <a:chExt cx="0" cy="0"/>
        </a:xfrm>
      </p:grpSpPr>
      <p:sp>
        <p:nvSpPr>
          <p:cNvPr id="2" name="Título 1"/>
          <p:cNvSpPr txBox="1">
            <a:spLocks noGrp="1"/>
          </p:cNvSpPr>
          <p:nvPr>
            <p:ph type="title" idx="4294967295"/>
          </p:nvPr>
        </p:nvSpPr>
        <p:spPr>
          <a:xfrm>
            <a:off x="838027" y="365017"/>
            <a:ext cx="10514937" cy="1325436"/>
          </a:xfrm>
          <a:prstGeom prst="rect">
            <a:avLst/>
          </a:prstGeom>
          <a:noFill/>
          <a:ln>
            <a:noFill/>
          </a:ln>
          <a:effectLst/>
        </p:spPr>
        <p:txBody>
          <a:bodyPr lIns="91440" tIns="45720" rIns="91440" bIns="45720" anchor="ctr"/>
          <a:lstStyle/>
          <a:p>
            <a:pPr marL="0" marR="0" indent="0" algn="l">
              <a:lnSpc>
                <a:spcPct val="90000"/>
              </a:lnSpc>
              <a:spcBef>
                <a:spcPts val="0"/>
              </a:spcBef>
              <a:spcAft>
                <a:spcPts val="0"/>
              </a:spcAft>
            </a:pPr>
            <a:r>
              <a:rPr lang="es-MX" sz="3200" u="none" spc="0">
                <a:solidFill>
                  <a:srgbClr val="000000"/>
                </a:solidFill>
                <a:latin typeface="Aptos Display"/>
                <a:cs typeface="Aptos Display"/>
              </a:rPr>
              <a:t>COMPARACION ENTRE LOS PATRONES</a:t>
            </a:r>
            <a:endParaRPr/>
          </a:p>
        </p:txBody>
      </p:sp>
      <p:graphicFrame>
        <p:nvGraphicFramePr>
          <p:cNvPr id="3" name="Marcador de contenido 2"/>
          <p:cNvGraphicFramePr>
            <a:graphicFrameLocks/>
          </p:cNvGraphicFramePr>
          <p:nvPr>
            <p:extLst>
              <p:ext uri="{D42A27DB-BD31-4B8C-83A1-F6EECF244321}">
                <p14:modId xmlns:p14="http://schemas.microsoft.com/office/powerpoint/2010/main" val="1958806869"/>
              </p:ext>
            </p:extLst>
          </p:nvPr>
        </p:nvGraphicFramePr>
        <p:xfrm rot="21600000">
          <a:off x="838027" y="1690454"/>
          <a:ext cx="10518536" cy="2460979"/>
        </p:xfrm>
        <a:graphic>
          <a:graphicData uri="http://schemas.openxmlformats.org/drawingml/2006/table">
            <a:tbl>
              <a:tblPr/>
              <a:tblGrid>
                <a:gridCol w="5259268">
                  <a:extLst>
                    <a:ext uri="{9D8B030D-6E8A-4147-A177-3AD203B41FA5}">
                      <a16:colId xmlns:a16="http://schemas.microsoft.com/office/drawing/2014/main" val="20000"/>
                    </a:ext>
                  </a:extLst>
                </a:gridCol>
                <a:gridCol w="5259268">
                  <a:extLst>
                    <a:ext uri="{9D8B030D-6E8A-4147-A177-3AD203B41FA5}">
                      <a16:colId xmlns:a16="http://schemas.microsoft.com/office/drawing/2014/main" val="20001"/>
                    </a:ext>
                  </a:extLst>
                </a:gridCol>
              </a:tblGrid>
              <a:tr h="391071">
                <a:tc>
                  <a:txBody>
                    <a:bodyPr/>
                    <a:lstStyle/>
                    <a:p>
                      <a:r>
                        <a:rPr lang="es-MX" sz="2400" strike="noStrike"/>
                        <a:t>BUILDER</a:t>
                      </a:r>
                      <a:endParaRPr sz="2400"/>
                    </a:p>
                  </a:txBody>
                  <a:tcPr>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r>
                        <a:rPr lang="es-MX" sz="2400" strike="noStrike" dirty="0"/>
                        <a:t>ABSTRACT FACTORY</a:t>
                      </a:r>
                      <a:endParaRPr sz="2400" dirty="0"/>
                    </a:p>
                  </a:txBody>
                  <a:tcPr>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extLst>
                  <a:ext uri="{0D108BD9-81ED-4DB2-BD59-A6C34878D82A}">
                    <a16:rowId xmlns:a16="http://schemas.microsoft.com/office/drawing/2014/main" val="10000"/>
                  </a:ext>
                </a:extLst>
              </a:tr>
              <a:tr h="2003779">
                <a:tc>
                  <a:txBody>
                    <a:bodyPr/>
                    <a:lstStyle/>
                    <a:p>
                      <a:pPr marL="336550" lvl="0" indent="-285749">
                        <a:buSzPct val="100000"/>
                        <a:buFont typeface="Arial"/>
                        <a:buChar char="•"/>
                      </a:pPr>
                      <a:r>
                        <a:rPr lang="es-MX" sz="2400" strike="noStrike" dirty="0"/>
                        <a:t>Dedicado a la creación de objetos complejos</a:t>
                      </a:r>
                      <a:endParaRPr sz="2400" dirty="0"/>
                    </a:p>
                    <a:p>
                      <a:pPr marL="336550" lvl="0" indent="-285749">
                        <a:buSzPct val="100000"/>
                        <a:buFont typeface="Arial"/>
                        <a:buChar char="•"/>
                      </a:pPr>
                      <a:r>
                        <a:rPr lang="es-MX" sz="2400" strike="noStrike" dirty="0"/>
                        <a:t>Crea sus objetos a partir de una clase director que maneja el constructor</a:t>
                      </a:r>
                      <a:endParaRPr sz="2400" dirty="0"/>
                    </a:p>
                  </a:txBody>
                  <a:tcPr>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marL="393700" lvl="0" indent="-342899">
                        <a:buSzPct val="100000"/>
                        <a:buFont typeface="Arial"/>
                        <a:buChar char="•"/>
                      </a:pPr>
                      <a:r>
                        <a:rPr lang="es-MX" sz="2400" strike="noStrike" dirty="0"/>
                        <a:t>Dedicado a la creación de objetos con especificaciones complejas</a:t>
                      </a:r>
                      <a:endParaRPr sz="2400" dirty="0"/>
                    </a:p>
                  </a:txBody>
                  <a:tcPr>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extLst>
                  <a:ext uri="{0D108BD9-81ED-4DB2-BD59-A6C34878D82A}">
                    <a16:rowId xmlns:a16="http://schemas.microsoft.com/office/drawing/2014/main" val="10001"/>
                  </a:ext>
                </a:extLst>
              </a:tr>
            </a:tbl>
          </a:graphicData>
        </a:graphic>
      </p:graphicFrame>
      <p:sp>
        <p:nvSpPr>
          <p:cNvPr id="4" name="CuadroTexto 3">
            <a:extLst>
              <a:ext uri="{FF2B5EF4-FFF2-40B4-BE49-F238E27FC236}">
                <a16:creationId xmlns:a16="http://schemas.microsoft.com/office/drawing/2014/main" id="{C628B7A0-C721-50CE-51BF-E2CB3DC5E4D0}"/>
              </a:ext>
            </a:extLst>
          </p:cNvPr>
          <p:cNvSpPr txBox="1"/>
          <p:nvPr/>
        </p:nvSpPr>
        <p:spPr>
          <a:xfrm>
            <a:off x="838026" y="4382717"/>
            <a:ext cx="10518537" cy="1569660"/>
          </a:xfrm>
          <a:prstGeom prst="rect">
            <a:avLst/>
          </a:prstGeom>
          <a:noFill/>
        </p:spPr>
        <p:txBody>
          <a:bodyPr wrap="square" rtlCol="0">
            <a:spAutoFit/>
          </a:bodyPr>
          <a:lstStyle/>
          <a:p>
            <a:pPr marL="342900" indent="-342900">
              <a:buFont typeface="Arial" panose="020B0604020202020204" pitchFamily="34" charset="0"/>
              <a:buChar char="•"/>
            </a:pPr>
            <a:r>
              <a:rPr lang="es-MX" sz="2400" dirty="0"/>
              <a:t>Ambos Siguen el Principio de “Encapsular lo que varia” y “Programar Para Interfaces”</a:t>
            </a:r>
          </a:p>
          <a:p>
            <a:pPr marL="342900" indent="-342900">
              <a:buFont typeface="Arial" panose="020B0604020202020204" pitchFamily="34" charset="0"/>
              <a:buChar char="•"/>
            </a:pPr>
            <a:r>
              <a:rPr lang="es-MX" sz="2400" dirty="0"/>
              <a:t>Ambos aumentan la complejidad del código</a:t>
            </a:r>
          </a:p>
          <a:p>
            <a:pPr marL="342900" indent="-342900">
              <a:buFont typeface="Arial" panose="020B0604020202020204" pitchFamily="34" charset="0"/>
              <a:buChar char="•"/>
            </a:pPr>
            <a:r>
              <a:rPr lang="es-MX" sz="2400" dirty="0"/>
              <a:t>Ambos Son Patrones </a:t>
            </a:r>
            <a:r>
              <a:rPr lang="es-MX" sz="2400" b="1" dirty="0"/>
              <a:t>Creacionales</a:t>
            </a:r>
            <a:r>
              <a:rPr lang="es-MX" sz="2400" dirty="0"/>
              <a:t> de </a:t>
            </a:r>
            <a:r>
              <a:rPr lang="es-MX" sz="2400" b="1" dirty="0"/>
              <a:t>Objeto</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6C672A-E405-5FD4-4670-C8F088D58D7E}"/>
              </a:ext>
            </a:extLst>
          </p:cNvPr>
          <p:cNvSpPr>
            <a:spLocks noGrp="1"/>
          </p:cNvSpPr>
          <p:nvPr>
            <p:ph type="title"/>
          </p:nvPr>
        </p:nvSpPr>
        <p:spPr/>
        <p:txBody>
          <a:bodyPr/>
          <a:lstStyle/>
          <a:p>
            <a:r>
              <a:rPr lang="es-MX" dirty="0"/>
              <a:t>Implementación de IA en la Presentación</a:t>
            </a:r>
          </a:p>
        </p:txBody>
      </p:sp>
      <p:pic>
        <p:nvPicPr>
          <p:cNvPr id="5" name="Marcador de contenido 4">
            <a:extLst>
              <a:ext uri="{FF2B5EF4-FFF2-40B4-BE49-F238E27FC236}">
                <a16:creationId xmlns:a16="http://schemas.microsoft.com/office/drawing/2014/main" id="{A6495506-9A8B-3DEA-17B8-EAE17C440772}"/>
              </a:ext>
            </a:extLst>
          </p:cNvPr>
          <p:cNvPicPr>
            <a:picLocks noGrp="1" noChangeAspect="1"/>
          </p:cNvPicPr>
          <p:nvPr>
            <p:ph idx="1"/>
          </p:nvPr>
        </p:nvPicPr>
        <p:blipFill>
          <a:blip r:embed="rId2"/>
          <a:stretch>
            <a:fillRect/>
          </a:stretch>
        </p:blipFill>
        <p:spPr>
          <a:xfrm>
            <a:off x="3195108" y="1825625"/>
            <a:ext cx="5801784" cy="4351338"/>
          </a:xfrm>
          <a:prstGeom prst="rect">
            <a:avLst/>
          </a:prstGeom>
        </p:spPr>
      </p:pic>
    </p:spTree>
    <p:extLst>
      <p:ext uri="{BB962C8B-B14F-4D97-AF65-F5344CB8AC3E}">
        <p14:creationId xmlns:p14="http://schemas.microsoft.com/office/powerpoint/2010/main" val="25657739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D5543162-1A89-AA12-06CE-18D61DC017F1}"/>
              </a:ext>
            </a:extLst>
          </p:cNvPr>
          <p:cNvSpPr>
            <a:spLocks noGrp="1"/>
          </p:cNvSpPr>
          <p:nvPr>
            <p:ph type="title"/>
          </p:nvPr>
        </p:nvSpPr>
        <p:spPr/>
        <p:txBody>
          <a:bodyPr/>
          <a:lstStyle/>
          <a:p>
            <a:r>
              <a:rPr lang="es-MX" dirty="0"/>
              <a:t>Referencias</a:t>
            </a:r>
          </a:p>
        </p:txBody>
      </p:sp>
      <p:sp>
        <p:nvSpPr>
          <p:cNvPr id="6" name="Marcador de contenido 5">
            <a:extLst>
              <a:ext uri="{FF2B5EF4-FFF2-40B4-BE49-F238E27FC236}">
                <a16:creationId xmlns:a16="http://schemas.microsoft.com/office/drawing/2014/main" id="{B88640A3-FEBE-7A1A-2377-1C194B86471E}"/>
              </a:ext>
            </a:extLst>
          </p:cNvPr>
          <p:cNvSpPr>
            <a:spLocks noGrp="1"/>
          </p:cNvSpPr>
          <p:nvPr>
            <p:ph idx="1"/>
          </p:nvPr>
        </p:nvSpPr>
        <p:spPr/>
        <p:txBody>
          <a:bodyPr/>
          <a:lstStyle/>
          <a:p>
            <a:r>
              <a:rPr lang="es-MX" dirty="0"/>
              <a:t>Gamma, E., Helm, R., Johnson, R., y </a:t>
            </a:r>
            <a:r>
              <a:rPr lang="es-MX" dirty="0" err="1"/>
              <a:t>Vlissides</a:t>
            </a:r>
            <a:r>
              <a:rPr lang="es-MX" dirty="0"/>
              <a:t>, J. (1994). </a:t>
            </a:r>
            <a:r>
              <a:rPr lang="es-MX" i="1" dirty="0" err="1"/>
              <a:t>Design</a:t>
            </a:r>
            <a:r>
              <a:rPr lang="es-MX" i="1" dirty="0"/>
              <a:t> </a:t>
            </a:r>
            <a:r>
              <a:rPr lang="es-MX" i="1" dirty="0" err="1"/>
              <a:t>Patterns</a:t>
            </a:r>
            <a:r>
              <a:rPr lang="es-MX" i="1" dirty="0"/>
              <a:t>: </a:t>
            </a:r>
            <a:r>
              <a:rPr lang="es-MX" i="1" dirty="0" err="1"/>
              <a:t>Elements</a:t>
            </a:r>
            <a:r>
              <a:rPr lang="es-MX" i="1" dirty="0"/>
              <a:t> </a:t>
            </a:r>
            <a:r>
              <a:rPr lang="es-MX" i="1" dirty="0" err="1"/>
              <a:t>of</a:t>
            </a:r>
            <a:r>
              <a:rPr lang="es-MX" i="1" dirty="0"/>
              <a:t> Reusable </a:t>
            </a:r>
            <a:r>
              <a:rPr lang="es-MX" i="1" dirty="0" err="1"/>
              <a:t>Object-Oriented</a:t>
            </a:r>
            <a:r>
              <a:rPr lang="es-MX" i="1" dirty="0"/>
              <a:t> Software</a:t>
            </a:r>
            <a:r>
              <a:rPr lang="es-MX" dirty="0"/>
              <a:t>. Addison-Wesley.</a:t>
            </a:r>
            <a:endParaRPr lang="en-US" dirty="0"/>
          </a:p>
          <a:p>
            <a:r>
              <a:rPr lang="en-US" dirty="0"/>
              <a:t>Shvets, A. (2026). </a:t>
            </a:r>
            <a:r>
              <a:rPr lang="en-US" i="1" dirty="0"/>
              <a:t>Builder</a:t>
            </a:r>
            <a:r>
              <a:rPr lang="en-US" dirty="0"/>
              <a:t>. </a:t>
            </a:r>
            <a:r>
              <a:rPr lang="en-US" dirty="0" err="1"/>
              <a:t>Refactoring.Guru</a:t>
            </a:r>
            <a:r>
              <a:rPr lang="en-US" dirty="0"/>
              <a:t>. https://refactoring.guru/es/design-patterns/builder</a:t>
            </a:r>
            <a:endParaRPr lang="es-MX" dirty="0"/>
          </a:p>
        </p:txBody>
      </p:sp>
    </p:spTree>
    <p:extLst>
      <p:ext uri="{BB962C8B-B14F-4D97-AF65-F5344CB8AC3E}">
        <p14:creationId xmlns:p14="http://schemas.microsoft.com/office/powerpoint/2010/main" val="200519985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638</TotalTime>
  <Words>1781</Words>
  <Application>Microsoft Office PowerPoint</Application>
  <PresentationFormat>Panorámica</PresentationFormat>
  <Paragraphs>174</Paragraphs>
  <Slides>43</Slides>
  <Notes>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43</vt:i4>
      </vt:variant>
    </vt:vector>
  </HeadingPairs>
  <TitlesOfParts>
    <vt:vector size="47" baseType="lpstr">
      <vt:lpstr>Aptos</vt:lpstr>
      <vt:lpstr>Aptos Display</vt:lpstr>
      <vt:lpstr>Arial</vt:lpstr>
      <vt:lpstr>Tema de Office</vt:lpstr>
      <vt:lpstr>Presentacion Patrones de Diseño</vt:lpstr>
      <vt:lpstr>BUILDER</vt:lpstr>
      <vt:lpstr>BUILDER– ANALOGÍA</vt:lpstr>
      <vt:lpstr>Definición</vt:lpstr>
      <vt:lpstr>Intención</vt:lpstr>
      <vt:lpstr>Motivación</vt:lpstr>
      <vt:lpstr>Participantes y Responsabilidades</vt:lpstr>
      <vt:lpstr>Presentación de PowerPoint</vt:lpstr>
      <vt:lpstr>Relaciones entre los Participantes</vt:lpstr>
      <vt:lpstr>Presentación de PowerPoint</vt:lpstr>
      <vt:lpstr>Presentación de PowerPoint</vt:lpstr>
      <vt:lpstr>Usos Conocidos</vt:lpstr>
      <vt:lpstr>PATRONES RELACIONADOS</vt:lpstr>
      <vt:lpstr>Presentación de PowerPoint</vt:lpstr>
      <vt:lpstr>IMPLEMENTACION DEL PATRON BUILDER</vt:lpstr>
      <vt:lpstr>Presentación de PowerPoint</vt:lpstr>
      <vt:lpstr>CODIGO IMPLEMENTADO</vt:lpstr>
      <vt:lpstr>Presentación de PowerPoint</vt:lpstr>
      <vt:lpstr>Presentación de PowerPoint</vt:lpstr>
      <vt:lpstr>Presentación de PowerPoint</vt:lpstr>
      <vt:lpstr>Presentación de PowerPoint</vt:lpstr>
      <vt:lpstr>Presentación de PowerPoint</vt:lpstr>
      <vt:lpstr>ABSTRACT  FACTORY</vt:lpstr>
      <vt:lpstr>ABSTRACT FACTORY – ANALOGÍA</vt:lpstr>
      <vt:lpstr>Definicion</vt:lpstr>
      <vt:lpstr>Intención</vt:lpstr>
      <vt:lpstr>Presentación de PowerPoint</vt:lpstr>
      <vt:lpstr>Participantes y Responsabilidades</vt:lpstr>
      <vt:lpstr>Presentación de PowerPoint</vt:lpstr>
      <vt:lpstr>Relaciones entre los Participantes</vt:lpstr>
      <vt:lpstr>Presentación de PowerPoint</vt:lpstr>
      <vt:lpstr>Presentación de PowerPoint</vt:lpstr>
      <vt:lpstr>Usos Conocidos</vt:lpstr>
      <vt:lpstr>PATRONES RELACIONADOS</vt:lpstr>
      <vt:lpstr>Presentación de PowerPoint</vt:lpstr>
      <vt:lpstr>IMPLEMENTACION DEL PATRON ABSTRACT FACTORY</vt:lpstr>
      <vt:lpstr>Diagrama de clases de la implementación</vt:lpstr>
      <vt:lpstr>ABSTRACT FACTORY – IMPLEMENTACIÓN</vt:lpstr>
      <vt:lpstr>Presentación de PowerPoint</vt:lpstr>
      <vt:lpstr>Diagrama de secuencia de la implementación</vt:lpstr>
      <vt:lpstr>COMPARACION ENTRE LOS PATRONES</vt:lpstr>
      <vt:lpstr>Implementación de IA en la Presentación</vt:lpstr>
      <vt:lpstr>Referencias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CONTRERAS MOTA JOSE MARIA</dc:creator>
  <cp:lastModifiedBy>CONTRERAS MOTA JOSE MARIA</cp:lastModifiedBy>
  <cp:revision>8</cp:revision>
  <dcterms:created xsi:type="dcterms:W3CDTF">2026-05-22T04:50:03Z</dcterms:created>
  <dcterms:modified xsi:type="dcterms:W3CDTF">2026-05-22T16:08:05Z</dcterms:modified>
</cp:coreProperties>
</file>